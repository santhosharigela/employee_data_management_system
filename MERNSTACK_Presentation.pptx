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15.jpg" ContentType="image/jpeg"/>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301" r:id="rId4"/>
    <p:sldId id="282" r:id="rId5"/>
    <p:sldId id="300" r:id="rId6"/>
    <p:sldId id="259" r:id="rId7"/>
    <p:sldId id="274" r:id="rId8"/>
    <p:sldId id="279" r:id="rId9"/>
    <p:sldId id="299" r:id="rId10"/>
    <p:sldId id="298" r:id="rId11"/>
    <p:sldId id="276" r:id="rId12"/>
    <p:sldId id="269" r:id="rId13"/>
  </p:sldIdLst>
  <p:sldSz cx="10058400" cy="7772400"/>
  <p:notesSz cx="10058400" cy="7772400"/>
  <p:defaultTextStyle>
    <a:defPPr>
      <a:defRPr kern="0"/>
    </a:defPPr>
  </p:defaultTextStyle>
  <p:extLst>
    <p:ext uri="{521415D9-36F7-43E2-AB2F-B90AF26B5E84}">
      <p14:sectionLst xmlns:p14="http://schemas.microsoft.com/office/powerpoint/2010/main">
        <p14:section name="Default Section" id="{7BE6A688-D8EA-4E81-8D78-C3BD9E77672F}">
          <p14:sldIdLst>
            <p14:sldId id="256"/>
            <p14:sldId id="257"/>
            <p14:sldId id="301"/>
            <p14:sldId id="282"/>
            <p14:sldId id="300"/>
            <p14:sldId id="259"/>
            <p14:sldId id="274"/>
            <p14:sldId id="279"/>
            <p14:sldId id="299"/>
            <p14:sldId id="298"/>
            <p14:sldId id="276"/>
            <p14:sldId id="269"/>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6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244" autoAdjust="0"/>
    <p:restoredTop sz="96949" autoAdjust="0"/>
  </p:normalViewPr>
  <p:slideViewPr>
    <p:cSldViewPr>
      <p:cViewPr varScale="1">
        <p:scale>
          <a:sx n="112" d="100"/>
          <a:sy n="112" d="100"/>
        </p:scale>
        <p:origin x="1632" y="10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04-04-2026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E471F2-2083-493A-8C9E-53209FFA1EC8}" type="slidenum">
              <a:rPr lang="en-IN" smtClean="0"/>
              <a:t>6</a:t>
            </a:fld>
            <a:endParaRPr lang="en-IN"/>
          </a:p>
        </p:txBody>
      </p:sp>
    </p:spTree>
    <p:extLst>
      <p:ext uri="{BB962C8B-B14F-4D97-AF65-F5344CB8AC3E}">
        <p14:creationId xmlns:p14="http://schemas.microsoft.com/office/powerpoint/2010/main" val="895346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E471F2-2083-493A-8C9E-53209FFA1EC8}" type="slidenum">
              <a:rPr lang="en-IN" smtClean="0"/>
              <a:t>7</a:t>
            </a:fld>
            <a:endParaRPr lang="en-IN"/>
          </a:p>
        </p:txBody>
      </p:sp>
    </p:spTree>
    <p:extLst>
      <p:ext uri="{BB962C8B-B14F-4D97-AF65-F5344CB8AC3E}">
        <p14:creationId xmlns:p14="http://schemas.microsoft.com/office/powerpoint/2010/main" val="4996925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E471F2-2083-493A-8C9E-53209FFA1EC8}" type="slidenum">
              <a:rPr lang="en-IN" smtClean="0"/>
              <a:t>10</a:t>
            </a:fld>
            <a:endParaRPr lang="en-IN"/>
          </a:p>
        </p:txBody>
      </p:sp>
    </p:spTree>
    <p:extLst>
      <p:ext uri="{BB962C8B-B14F-4D97-AF65-F5344CB8AC3E}">
        <p14:creationId xmlns:p14="http://schemas.microsoft.com/office/powerpoint/2010/main" val="3435205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4/4/2026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7.png"/><Relationship Id="rId7" Type="http://schemas.openxmlformats.org/officeDocument/2006/relationships/image" Target="../media/image9.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11.svg"/></Relationships>
</file>

<file path=ppt/slides/_rels/slide8.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3" Type="http://schemas.openxmlformats.org/officeDocument/2006/relationships/image" Target="../media/image7.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2.svg"/><Relationship Id="rId11" Type="http://schemas.openxmlformats.org/officeDocument/2006/relationships/image" Target="../media/image17.svg"/><Relationship Id="rId5" Type="http://schemas.openxmlformats.org/officeDocument/2006/relationships/image" Target="../media/image8.png"/><Relationship Id="rId10" Type="http://schemas.openxmlformats.org/officeDocument/2006/relationships/image" Target="../media/image16.svg"/><Relationship Id="rId4" Type="http://schemas.openxmlformats.org/officeDocument/2006/relationships/image" Target="../media/image2.png"/><Relationship Id="rId9" Type="http://schemas.openxmlformats.org/officeDocument/2006/relationships/image" Target="../media/image15.jp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jpg"/><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723745" y="664604"/>
            <a:ext cx="4610910" cy="628649"/>
          </a:xfrm>
          <a:prstGeom prst="rect">
            <a:avLst/>
          </a:prstGeom>
        </p:spPr>
      </p:pic>
      <p:sp>
        <p:nvSpPr>
          <p:cNvPr id="3" name="object 3"/>
          <p:cNvSpPr txBox="1">
            <a:spLocks noGrp="1"/>
          </p:cNvSpPr>
          <p:nvPr>
            <p:ph type="title"/>
          </p:nvPr>
        </p:nvSpPr>
        <p:spPr>
          <a:xfrm>
            <a:off x="1447798" y="1493730"/>
            <a:ext cx="7467599" cy="1381917"/>
          </a:xfrm>
          <a:prstGeom prst="rect">
            <a:avLst/>
          </a:prstGeom>
        </p:spPr>
        <p:txBody>
          <a:bodyPr vert="horz" wrap="square" lIns="0" tIns="11430" rIns="0" bIns="0" rtlCol="0">
            <a:spAutoFit/>
          </a:bodyPr>
          <a:lstStyle/>
          <a:p>
            <a:pPr marL="12700" algn="ctr">
              <a:lnSpc>
                <a:spcPct val="150000"/>
              </a:lnSpc>
              <a:spcBef>
                <a:spcPts val="90"/>
              </a:spcBef>
            </a:pPr>
            <a:r>
              <a:rPr lang="en-US" sz="2000" dirty="0">
                <a:solidFill>
                  <a:srgbClr val="943735"/>
                </a:solidFill>
                <a:latin typeface="Times New Roman" panose="02020603050405020304" pitchFamily="18" charset="0"/>
                <a:cs typeface="Times New Roman" panose="02020603050405020304" pitchFamily="18" charset="0"/>
              </a:rPr>
              <a:t>Department</a:t>
            </a:r>
            <a:r>
              <a:rPr lang="en-US" sz="2000" spc="-60" dirty="0">
                <a:solidFill>
                  <a:srgbClr val="943735"/>
                </a:solidFill>
                <a:latin typeface="Times New Roman" panose="02020603050405020304" pitchFamily="18" charset="0"/>
                <a:cs typeface="Times New Roman" panose="02020603050405020304" pitchFamily="18" charset="0"/>
              </a:rPr>
              <a:t> </a:t>
            </a:r>
            <a:r>
              <a:rPr lang="en-US" sz="2000" dirty="0">
                <a:solidFill>
                  <a:srgbClr val="943735"/>
                </a:solidFill>
                <a:latin typeface="Times New Roman" panose="02020603050405020304" pitchFamily="18" charset="0"/>
                <a:cs typeface="Times New Roman" panose="02020603050405020304" pitchFamily="18" charset="0"/>
              </a:rPr>
              <a:t>of Artificial Intelligence And Machine Learning</a:t>
            </a:r>
            <a:br>
              <a:rPr lang="en-IN" sz="2000" spc="-10" dirty="0">
                <a:latin typeface="Times New Roman" panose="02020603050405020304" pitchFamily="18" charset="0"/>
                <a:cs typeface="Times New Roman" panose="02020603050405020304" pitchFamily="18" charset="0"/>
              </a:rPr>
            </a:br>
            <a:r>
              <a:rPr lang="en-IN" sz="2000" spc="-10" dirty="0">
                <a:latin typeface="Times New Roman" panose="02020603050405020304" pitchFamily="18" charset="0"/>
                <a:cs typeface="Times New Roman" panose="02020603050405020304" pitchFamily="18" charset="0"/>
              </a:rPr>
              <a:t>Web Application Development Using </a:t>
            </a:r>
            <a:r>
              <a:rPr lang="en-IN" sz="2000" spc="-10" dirty="0" err="1">
                <a:latin typeface="Times New Roman" panose="02020603050405020304" pitchFamily="18" charset="0"/>
                <a:cs typeface="Times New Roman" panose="02020603050405020304" pitchFamily="18" charset="0"/>
              </a:rPr>
              <a:t>Mernstack</a:t>
            </a:r>
            <a:r>
              <a:rPr lang="en-IN" sz="2000" spc="-10" dirty="0">
                <a:latin typeface="Times New Roman" panose="02020603050405020304" pitchFamily="18" charset="0"/>
                <a:cs typeface="Times New Roman" panose="02020603050405020304" pitchFamily="18" charset="0"/>
              </a:rPr>
              <a:t>  </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Cornerstone Project Final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805892" y="3276600"/>
            <a:ext cx="8751412" cy="1504258"/>
          </a:xfrm>
          <a:prstGeom prst="rect">
            <a:avLst/>
          </a:prstGeom>
        </p:spPr>
        <p:txBody>
          <a:bodyPr vert="horz" wrap="square" lIns="0" tIns="16510" rIns="0" bIns="0" rtlCol="0">
            <a:spAutoFit/>
          </a:bodyPr>
          <a:lstStyle/>
          <a:p>
            <a:pPr algn="ctr">
              <a:lnSpc>
                <a:spcPct val="100000"/>
              </a:lnSpc>
              <a:spcBef>
                <a:spcPts val="130"/>
              </a:spcBef>
            </a:pPr>
            <a:r>
              <a:rPr lang="en-US" sz="2400" dirty="0">
                <a:latin typeface="Times New Roman" panose="02020603050405020304" pitchFamily="18" charset="0"/>
                <a:cs typeface="Times New Roman" panose="02020603050405020304" pitchFamily="18" charset="0"/>
              </a:rPr>
              <a:t>Employee Record Management System (MERN CRUD)</a:t>
            </a:r>
          </a:p>
          <a:p>
            <a:pPr algn="ctr">
              <a:lnSpc>
                <a:spcPct val="100000"/>
              </a:lnSpc>
              <a:spcBef>
                <a:spcPts val="130"/>
              </a:spcBef>
            </a:pPr>
            <a:endParaRPr lang="en-US" sz="2200" dirty="0">
              <a:solidFill>
                <a:srgbClr val="FF0000"/>
              </a:solidFill>
              <a:latin typeface="Times New Roman" panose="02020603050405020304" pitchFamily="18" charset="0"/>
              <a:cs typeface="Times New Roman" panose="02020603050405020304" pitchFamily="18" charset="0"/>
            </a:endParaRPr>
          </a:p>
          <a:p>
            <a:pPr marL="3810" algn="ctr">
              <a:spcBef>
                <a:spcPts val="750"/>
              </a:spcBef>
            </a:pPr>
            <a:endParaRPr lang="en-IN" sz="2000" spc="-10" dirty="0">
              <a:solidFill>
                <a:srgbClr val="17375E"/>
              </a:solidFill>
              <a:latin typeface="Times New Roman" panose="02020603050405020304" pitchFamily="18" charset="0"/>
              <a:cs typeface="Times New Roman" panose="02020603050405020304" pitchFamily="18" charset="0"/>
            </a:endParaRP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0A04EDB-9DDC-F7D7-37E7-6E01FC83E950}"/>
              </a:ext>
            </a:extLst>
          </p:cNvPr>
          <p:cNvSpPr txBox="1"/>
          <p:nvPr/>
        </p:nvSpPr>
        <p:spPr>
          <a:xfrm>
            <a:off x="990599" y="4267200"/>
            <a:ext cx="3810000" cy="2054409"/>
          </a:xfrm>
          <a:prstGeom prst="rect">
            <a:avLst/>
          </a:prstGeom>
          <a:noFill/>
        </p:spPr>
        <p:txBody>
          <a:bodyPr wrap="square" rtlCol="0">
            <a:spAutoFit/>
          </a:bodyPr>
          <a:lstStyle/>
          <a:p>
            <a:pPr algn="ctr">
              <a:lnSpc>
                <a:spcPct val="100000"/>
              </a:lnSpc>
              <a:spcBef>
                <a:spcPts val="130"/>
              </a:spcBef>
            </a:pPr>
            <a:r>
              <a:rPr lang="en-IN" sz="2000" dirty="0">
                <a:solidFill>
                  <a:srgbClr val="FF0000"/>
                </a:solidFill>
                <a:latin typeface="Times New Roman" panose="02020603050405020304" pitchFamily="18" charset="0"/>
                <a:cs typeface="Times New Roman" panose="02020603050405020304" pitchFamily="18" charset="0"/>
              </a:rPr>
              <a:t>Presented</a:t>
            </a:r>
            <a:r>
              <a:rPr lang="en-IN" sz="2000" spc="80" dirty="0">
                <a:solidFill>
                  <a:srgbClr val="FF0000"/>
                </a:solidFill>
                <a:latin typeface="Times New Roman" panose="02020603050405020304" pitchFamily="18" charset="0"/>
                <a:cs typeface="Times New Roman" panose="02020603050405020304" pitchFamily="18" charset="0"/>
              </a:rPr>
              <a:t> </a:t>
            </a:r>
            <a:r>
              <a:rPr lang="en-IN" sz="2000" spc="-25" dirty="0">
                <a:solidFill>
                  <a:srgbClr val="FF0000"/>
                </a:solidFill>
                <a:latin typeface="Times New Roman" panose="02020603050405020304" pitchFamily="18" charset="0"/>
                <a:cs typeface="Times New Roman" panose="02020603050405020304" pitchFamily="18" charset="0"/>
              </a:rPr>
              <a:t>by</a:t>
            </a:r>
          </a:p>
          <a:p>
            <a:pPr algn="ctr">
              <a:lnSpc>
                <a:spcPct val="100000"/>
              </a:lnSpc>
              <a:spcBef>
                <a:spcPts val="130"/>
              </a:spcBef>
            </a:pPr>
            <a:endParaRPr lang="en-IN" sz="800" spc="-25" dirty="0">
              <a:solidFill>
                <a:srgbClr val="FF0000"/>
              </a:solidFill>
              <a:latin typeface="Times New Roman" panose="02020603050405020304" pitchFamily="18" charset="0"/>
              <a:cs typeface="Times New Roman" panose="02020603050405020304" pitchFamily="18" charset="0"/>
            </a:endParaRPr>
          </a:p>
          <a:p>
            <a:pPr marL="3810" algn="ctr">
              <a:lnSpc>
                <a:spcPct val="100000"/>
              </a:lnSpc>
              <a:spcBef>
                <a:spcPts val="750"/>
              </a:spcBef>
            </a:pPr>
            <a:r>
              <a:rPr lang="en-IN" sz="1800" spc="-10" dirty="0">
                <a:solidFill>
                  <a:srgbClr val="17375E"/>
                </a:solidFill>
                <a:latin typeface="Times New Roman" panose="02020603050405020304" pitchFamily="18" charset="0"/>
                <a:cs typeface="Times New Roman" panose="02020603050405020304" pitchFamily="18" charset="0"/>
              </a:rPr>
              <a:t>A Tejasri Sai Santhosh(24B11AI019)</a:t>
            </a:r>
          </a:p>
          <a:p>
            <a:pPr marL="3810" algn="ctr">
              <a:lnSpc>
                <a:spcPct val="100000"/>
              </a:lnSpc>
              <a:spcBef>
                <a:spcPts val="750"/>
              </a:spcBef>
            </a:pPr>
            <a:r>
              <a:rPr lang="en-IN" sz="1800" spc="-10" dirty="0">
                <a:solidFill>
                  <a:srgbClr val="17375E"/>
                </a:solidFill>
                <a:latin typeface="Times New Roman" panose="02020603050405020304" pitchFamily="18" charset="0"/>
                <a:cs typeface="Times New Roman" panose="02020603050405020304" pitchFamily="18" charset="0"/>
              </a:rPr>
              <a:t>B Kalyani (24B11AI044)</a:t>
            </a:r>
          </a:p>
          <a:p>
            <a:pPr marL="3810" algn="ctr">
              <a:spcBef>
                <a:spcPts val="750"/>
              </a:spcBef>
            </a:pPr>
            <a:r>
              <a:rPr lang="en-IN" sz="1800" spc="-10" dirty="0">
                <a:solidFill>
                  <a:srgbClr val="17375E"/>
                </a:solidFill>
                <a:latin typeface="Times New Roman" panose="02020603050405020304" pitchFamily="18" charset="0"/>
                <a:cs typeface="Times New Roman" panose="02020603050405020304" pitchFamily="18" charset="0"/>
              </a:rPr>
              <a:t>G Mounika(24B11AI135)</a:t>
            </a:r>
          </a:p>
          <a:p>
            <a:pPr marL="3810" algn="ctr">
              <a:spcBef>
                <a:spcPts val="750"/>
              </a:spcBef>
            </a:pPr>
            <a:r>
              <a:rPr lang="en-IN" sz="1800" spc="-10" dirty="0">
                <a:solidFill>
                  <a:srgbClr val="17375E"/>
                </a:solidFill>
                <a:latin typeface="Times New Roman" panose="02020603050405020304" pitchFamily="18" charset="0"/>
                <a:cs typeface="Times New Roman" panose="02020603050405020304" pitchFamily="18" charset="0"/>
              </a:rPr>
              <a:t>J Akshara Hasini(24B11AI146)</a:t>
            </a:r>
          </a:p>
        </p:txBody>
      </p:sp>
      <p:sp>
        <p:nvSpPr>
          <p:cNvPr id="6" name="TextBox 5">
            <a:extLst>
              <a:ext uri="{FF2B5EF4-FFF2-40B4-BE49-F238E27FC236}">
                <a16:creationId xmlns:a16="http://schemas.microsoft.com/office/drawing/2014/main" id="{BFC2BCC5-41C2-0977-B16D-A1356CB88002}"/>
              </a:ext>
            </a:extLst>
          </p:cNvPr>
          <p:cNvSpPr txBox="1"/>
          <p:nvPr/>
        </p:nvSpPr>
        <p:spPr>
          <a:xfrm>
            <a:off x="5257803" y="4267200"/>
            <a:ext cx="4876798" cy="1477328"/>
          </a:xfrm>
          <a:prstGeom prst="rect">
            <a:avLst/>
          </a:prstGeom>
          <a:noFill/>
        </p:spPr>
        <p:txBody>
          <a:bodyPr wrap="square" rtlCol="0">
            <a:spAutoFit/>
          </a:bodyPr>
          <a:lstStyle/>
          <a:p>
            <a:pPr algn="ctr"/>
            <a:r>
              <a:rPr lang="en-US" sz="1800" b="1" i="1" dirty="0">
                <a:solidFill>
                  <a:srgbClr val="009644"/>
                </a:solidFill>
                <a:latin typeface="Times New Roman" panose="02020603050405020304" pitchFamily="18" charset="0"/>
                <a:cs typeface="Times New Roman" panose="02020603050405020304" pitchFamily="18" charset="0"/>
              </a:rPr>
              <a:t>Under the esteemed guidance of</a:t>
            </a:r>
          </a:p>
          <a:p>
            <a:pPr algn="ctr"/>
            <a:endParaRPr lang="en-IN" sz="1800" dirty="0">
              <a:solidFill>
                <a:srgbClr val="009644"/>
              </a:solidFill>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Mrs. P. Venkata Bala Annapurna</a:t>
            </a:r>
            <a:r>
              <a:rPr lang="en-IN" sz="1800" dirty="0">
                <a:latin typeface="Times New Roman" panose="02020603050405020304" pitchFamily="18" charset="0"/>
                <a:cs typeface="Times New Roman" panose="02020603050405020304" pitchFamily="18" charset="0"/>
              </a:rPr>
              <a:t>, </a:t>
            </a:r>
            <a:r>
              <a:rPr lang="en-IN" sz="1800" baseline="-25000" dirty="0" err="1">
                <a:latin typeface="Times New Roman" panose="02020603050405020304" pitchFamily="18" charset="0"/>
                <a:cs typeface="Times New Roman" panose="02020603050405020304" pitchFamily="18" charset="0"/>
              </a:rPr>
              <a:t>M.Tech</a:t>
            </a:r>
            <a:r>
              <a:rPr lang="en-IN" sz="1800" baseline="-25000" dirty="0">
                <a:latin typeface="Times New Roman" panose="02020603050405020304" pitchFamily="18" charset="0"/>
                <a:cs typeface="Times New Roman" panose="02020603050405020304" pitchFamily="18" charset="0"/>
              </a:rPr>
              <a:t>(PhD),</a:t>
            </a:r>
          </a:p>
          <a:p>
            <a:pPr algn="ctr"/>
            <a:r>
              <a:rPr lang="en-IN" sz="1800" dirty="0">
                <a:latin typeface="Times New Roman" panose="02020603050405020304" pitchFamily="18" charset="0"/>
                <a:cs typeface="Times New Roman" panose="02020603050405020304" pitchFamily="18" charset="0"/>
              </a:rPr>
              <a:t>Assistant Professor, </a:t>
            </a:r>
          </a:p>
          <a:p>
            <a:pPr algn="ctr"/>
            <a:r>
              <a:rPr lang="en-IN" sz="1800" dirty="0">
                <a:latin typeface="Times New Roman" panose="02020603050405020304" pitchFamily="18" charset="0"/>
                <a:cs typeface="Times New Roman" panose="02020603050405020304" pitchFamily="18" charset="0"/>
              </a:rPr>
              <a:t>Department of AIML</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872251" y="909441"/>
            <a:ext cx="6107778" cy="6628738"/>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endParaRPr lang="en-IN" sz="2400" spc="-10" dirty="0">
              <a:latin typeface="Times New Roman" panose="02020603050405020304" pitchFamily="18" charset="0"/>
              <a:cs typeface="Times New Roman" panose="02020603050405020304" pitchFamily="18" charset="0"/>
            </a:endParaRPr>
          </a:p>
          <a:p>
            <a:pPr marL="389890" indent="-377190">
              <a:lnSpc>
                <a:spcPct val="15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p>
          <a:p>
            <a:pPr marL="389890" indent="-377190">
              <a:lnSpc>
                <a:spcPct val="15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Project Statement</a:t>
            </a:r>
            <a:endParaRPr lang="en-IN"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Objectives</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solidFill>
                  <a:schemeClr val="tx1"/>
                </a:solidFill>
                <a:latin typeface="Times New Roman" panose="02020603050405020304" pitchFamily="18" charset="0"/>
                <a:ea typeface="Calibri" pitchFamily="34" charset="-122"/>
                <a:cs typeface="Times New Roman" panose="02020603050405020304" pitchFamily="18" charset="0"/>
              </a:rPr>
              <a:t>Analysis &amp; Design</a:t>
            </a:r>
            <a:endParaRPr lang="en-IN" sz="2400" dirty="0">
              <a:latin typeface="Times New Roman" panose="02020603050405020304" pitchFamily="18" charset="0"/>
              <a:cs typeface="Times New Roman" panose="02020603050405020304" pitchFamily="18" charset="0"/>
            </a:endParaRPr>
          </a:p>
          <a:p>
            <a:pPr marL="469900" indent="-457200">
              <a:lnSpc>
                <a:spcPct val="100000"/>
              </a:lnSpc>
              <a:spcBef>
                <a:spcPts val="2060"/>
              </a:spcBef>
              <a:buAutoNum type="arabicPeriod" startAt="4"/>
              <a:tabLst>
                <a:tab pos="389890" algn="l"/>
              </a:tabLst>
            </a:pPr>
            <a:r>
              <a:rPr lang="en-IN" sz="2400" dirty="0">
                <a:solidFill>
                  <a:schemeClr val="tx1"/>
                </a:solidFill>
                <a:latin typeface="Times New Roman" panose="02020603050405020304" pitchFamily="18" charset="0"/>
                <a:ea typeface="Calibri" pitchFamily="34" charset="-122"/>
                <a:cs typeface="Times New Roman" panose="02020603050405020304" pitchFamily="18" charset="0"/>
              </a:rPr>
              <a:t>System Architecture</a:t>
            </a:r>
          </a:p>
          <a:p>
            <a:pPr marL="469900" indent="-457200">
              <a:lnSpc>
                <a:spcPct val="100000"/>
              </a:lnSpc>
              <a:spcBef>
                <a:spcPts val="2060"/>
              </a:spcBef>
              <a:buAutoNum type="arabicPeriod" startAt="4"/>
              <a:tabLst>
                <a:tab pos="389890" algn="l"/>
              </a:tabLst>
            </a:pPr>
            <a:r>
              <a:rPr lang="en-IN" sz="2400" dirty="0">
                <a:solidFill>
                  <a:schemeClr val="tx1"/>
                </a:solidFill>
                <a:latin typeface="Times New Roman" panose="02020603050405020304" pitchFamily="18" charset="0"/>
                <a:ea typeface="Calibri" pitchFamily="34" charset="-122"/>
                <a:cs typeface="Times New Roman" panose="02020603050405020304" pitchFamily="18" charset="0"/>
              </a:rPr>
              <a:t>Technology Stack</a:t>
            </a:r>
            <a:endParaRPr lang="en-IN" sz="2400" dirty="0">
              <a:solidFill>
                <a:schemeClr val="tx1"/>
              </a:solidFill>
              <a:latin typeface="Times New Roman" panose="02020603050405020304" pitchFamily="18" charset="0"/>
              <a:cs typeface="Times New Roman" panose="02020603050405020304" pitchFamily="18" charset="0"/>
            </a:endParaRPr>
          </a:p>
          <a:p>
            <a:pPr marL="469900" indent="-457200">
              <a:spcBef>
                <a:spcPts val="2060"/>
              </a:spcBef>
              <a:buFontTx/>
              <a:buAutoNum type="arabicPeriod" startAt="4"/>
              <a:tabLst>
                <a:tab pos="389890" algn="l"/>
              </a:tabLst>
            </a:pPr>
            <a:r>
              <a:rPr lang="en-IN" sz="2400" dirty="0">
                <a:solidFill>
                  <a:schemeClr val="tx1"/>
                </a:solidFill>
                <a:latin typeface="Times New Roman" panose="02020603050405020304" pitchFamily="18" charset="0"/>
                <a:ea typeface="Calibri" pitchFamily="34" charset="-122"/>
                <a:cs typeface="Times New Roman" panose="02020603050405020304" pitchFamily="18" charset="0"/>
              </a:rPr>
              <a:t>Output Screens</a:t>
            </a:r>
            <a:endParaRPr lang="en-IN" sz="2400" dirty="0">
              <a:solidFill>
                <a:schemeClr val="tx1"/>
              </a:solidFill>
              <a:latin typeface="Times New Roman" panose="02020603050405020304" pitchFamily="18" charset="0"/>
              <a:cs typeface="Times New Roman" panose="02020603050405020304" pitchFamily="18" charset="0"/>
            </a:endParaRPr>
          </a:p>
          <a:p>
            <a:pPr marL="469900" indent="-457200">
              <a:spcBef>
                <a:spcPts val="2060"/>
              </a:spcBef>
              <a:buFontTx/>
              <a:buAutoNum type="arabicPeriod" startAt="4"/>
              <a:tabLst>
                <a:tab pos="389890" algn="l"/>
              </a:tabLst>
            </a:pPr>
            <a:r>
              <a:rPr lang="en-IN" sz="2400" dirty="0">
                <a:solidFill>
                  <a:schemeClr val="tx1"/>
                </a:solidFill>
                <a:latin typeface="Times New Roman" panose="02020603050405020304" pitchFamily="18" charset="0"/>
                <a:ea typeface="Calibri" pitchFamily="34" charset="-122"/>
                <a:cs typeface="Times New Roman" panose="02020603050405020304" pitchFamily="18" charset="0"/>
              </a:rPr>
              <a:t>Conclusion</a:t>
            </a:r>
            <a:endParaRPr lang="en-IN" sz="2400" dirty="0">
              <a:solidFill>
                <a:schemeClr val="tx1"/>
              </a:solidFill>
              <a:latin typeface="Times New Roman" panose="02020603050405020304" pitchFamily="18" charset="0"/>
              <a:cs typeface="Times New Roman" panose="02020603050405020304" pitchFamily="18" charset="0"/>
            </a:endParaRPr>
          </a:p>
          <a:p>
            <a:pPr marL="469900" indent="-457200">
              <a:lnSpc>
                <a:spcPct val="100000"/>
              </a:lnSpc>
              <a:spcBef>
                <a:spcPts val="2060"/>
              </a:spcBef>
              <a:buAutoNum type="arabicPeriod" startAt="4"/>
              <a:tabLst>
                <a:tab pos="389890" algn="l"/>
              </a:tabLst>
            </a:pPr>
            <a:endParaRPr lang="en-IN" sz="2400" dirty="0">
              <a:latin typeface="Times New Roman" panose="02020603050405020304" pitchFamily="18" charset="0"/>
              <a:cs typeface="Times New Roman" panose="02020603050405020304" pitchFamily="18" charset="0"/>
            </a:endParaRP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7A17D-1013-8BF3-C0E9-E6AF9518FE63}"/>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88E61558-B2FD-A1AB-9DE4-124AF1FEAE3C}"/>
              </a:ext>
            </a:extLst>
          </p:cNvPr>
          <p:cNvPicPr/>
          <p:nvPr/>
        </p:nvPicPr>
        <p:blipFill>
          <a:blip r:embed="rId2" cstate="print"/>
          <a:stretch>
            <a:fillRect/>
          </a:stretch>
        </p:blipFill>
        <p:spPr>
          <a:xfrm>
            <a:off x="290750" y="204311"/>
            <a:ext cx="1163002" cy="424338"/>
          </a:xfrm>
          <a:prstGeom prst="rect">
            <a:avLst/>
          </a:prstGeom>
        </p:spPr>
      </p:pic>
      <p:sp>
        <p:nvSpPr>
          <p:cNvPr id="4" name="TextBox 3">
            <a:extLst>
              <a:ext uri="{FF2B5EF4-FFF2-40B4-BE49-F238E27FC236}">
                <a16:creationId xmlns:a16="http://schemas.microsoft.com/office/drawing/2014/main" id="{47159E0C-1F24-0E0E-079E-6654154F92BD}"/>
              </a:ext>
            </a:extLst>
          </p:cNvPr>
          <p:cNvSpPr txBox="1"/>
          <p:nvPr/>
        </p:nvSpPr>
        <p:spPr>
          <a:xfrm>
            <a:off x="2209800" y="457200"/>
            <a:ext cx="184731" cy="369332"/>
          </a:xfrm>
          <a:prstGeom prst="rect">
            <a:avLst/>
          </a:prstGeom>
          <a:noFill/>
        </p:spPr>
        <p:txBody>
          <a:bodyPr wrap="none" rtlCol="0">
            <a:spAutoFit/>
          </a:bodyPr>
          <a:lstStyle/>
          <a:p>
            <a:endParaRPr lang="en-IN" dirty="0"/>
          </a:p>
        </p:txBody>
      </p:sp>
      <p:grpSp>
        <p:nvGrpSpPr>
          <p:cNvPr id="5" name="object 3">
            <a:extLst>
              <a:ext uri="{FF2B5EF4-FFF2-40B4-BE49-F238E27FC236}">
                <a16:creationId xmlns:a16="http://schemas.microsoft.com/office/drawing/2014/main" id="{D75A97D6-806A-91BF-7153-642EDCF6F035}"/>
              </a:ext>
            </a:extLst>
          </p:cNvPr>
          <p:cNvGrpSpPr/>
          <p:nvPr/>
        </p:nvGrpSpPr>
        <p:grpSpPr>
          <a:xfrm>
            <a:off x="2020048" y="-133351"/>
            <a:ext cx="6018304" cy="1524000"/>
            <a:chOff x="2648188" y="47148"/>
            <a:chExt cx="5103904" cy="1198311"/>
          </a:xfrm>
        </p:grpSpPr>
        <p:pic>
          <p:nvPicPr>
            <p:cNvPr id="6" name="object 4">
              <a:extLst>
                <a:ext uri="{FF2B5EF4-FFF2-40B4-BE49-F238E27FC236}">
                  <a16:creationId xmlns:a16="http://schemas.microsoft.com/office/drawing/2014/main" id="{72987DEF-825B-BB61-1DA6-FD04B7DF88A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429B7ABC-8A37-7C35-C40B-0658C7FD2789}"/>
                </a:ext>
              </a:extLst>
            </p:cNvPr>
            <p:cNvPicPr/>
            <p:nvPr/>
          </p:nvPicPr>
          <p:blipFill>
            <a:blip r:embed="rId4" cstate="print"/>
            <a:stretch>
              <a:fillRect/>
            </a:stretch>
          </p:blipFill>
          <p:spPr>
            <a:xfrm>
              <a:off x="2648188" y="100164"/>
              <a:ext cx="4997767" cy="1092279"/>
            </a:xfrm>
            <a:prstGeom prst="rect">
              <a:avLst/>
            </a:prstGeom>
          </p:spPr>
        </p:pic>
        <p:pic>
          <p:nvPicPr>
            <p:cNvPr id="8" name="object 6">
              <a:extLst>
                <a:ext uri="{FF2B5EF4-FFF2-40B4-BE49-F238E27FC236}">
                  <a16:creationId xmlns:a16="http://schemas.microsoft.com/office/drawing/2014/main" id="{33CBEF93-F165-7D04-C25D-25400AC9FA4E}"/>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83A5260-F857-CA2F-04F5-72A877AF194F}"/>
                </a:ext>
              </a:extLst>
            </p:cNvPr>
            <p:cNvSpPr/>
            <p:nvPr/>
          </p:nvSpPr>
          <p:spPr>
            <a:xfrm>
              <a:off x="2828925" y="289371"/>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l"/>
              <a:r>
                <a:rPr lang="en-US" sz="2800" dirty="0">
                  <a:latin typeface="Times New Roman" panose="02020603050405020304" pitchFamily="18" charset="0"/>
                  <a:cs typeface="Times New Roman" panose="02020603050405020304" pitchFamily="18" charset="0"/>
                </a:rPr>
                <a:t>                     </a:t>
              </a:r>
              <a:r>
                <a:rPr lang="en-US" sz="2000" b="1" dirty="0">
                  <a:solidFill>
                    <a:schemeClr val="bg1"/>
                  </a:solidFill>
                  <a:latin typeface="Times New Roman" panose="02020603050405020304" pitchFamily="18" charset="0"/>
                  <a:cs typeface="Times New Roman" panose="02020603050405020304" pitchFamily="18" charset="0"/>
                </a:rPr>
                <a:t>ABSTRACT</a:t>
              </a:r>
              <a:endParaRPr sz="2800" b="1" dirty="0">
                <a:latin typeface="Times New Roman" panose="02020603050405020304" pitchFamily="18" charset="0"/>
                <a:cs typeface="Times New Roman" panose="02020603050405020304" pitchFamily="18" charset="0"/>
              </a:endParaRPr>
            </a:p>
          </p:txBody>
        </p:sp>
      </p:grpSp>
      <p:sp>
        <p:nvSpPr>
          <p:cNvPr id="11" name="TextBox 10">
            <a:extLst>
              <a:ext uri="{FF2B5EF4-FFF2-40B4-BE49-F238E27FC236}">
                <a16:creationId xmlns:a16="http://schemas.microsoft.com/office/drawing/2014/main" id="{53AC3B70-524C-8F01-3E2C-64169F13249F}"/>
              </a:ext>
            </a:extLst>
          </p:cNvPr>
          <p:cNvSpPr txBox="1"/>
          <p:nvPr/>
        </p:nvSpPr>
        <p:spPr>
          <a:xfrm>
            <a:off x="609600" y="781023"/>
            <a:ext cx="8991600" cy="5859553"/>
          </a:xfrm>
          <a:prstGeom prst="rect">
            <a:avLst/>
          </a:prstGeom>
          <a:noFill/>
        </p:spPr>
        <p:txBody>
          <a:bodyPr wrap="square">
            <a:spAutoFit/>
          </a:bodyPr>
          <a:lstStyle/>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The Employee Record Management System (MERN Stack) is a full-stack web application designed to efficiently manage employee data in a centralized and organized manner. The system is developed using the MERN stack (MongoDB, Express.js, Node.js, and frontend technologies) to provide a scalable and dynamic solution for handling employee records.</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The application enables administrators to perform complete CRUD (Create, Read, Update, Delete) operations on employee data, including details such as name, email, department, and salary. It also incorporates advanced features like searching employees by name and filtering based on department and salary, which enhances data retrieval and usability.</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The backend is implemented using Node.js and Express.js to create RESTful APIs, while MongoDB is used for efficient data storage and management. The frontend is designed to provide an intuitive and user-friendly interface for seamless interaction.</a:t>
            </a:r>
          </a:p>
        </p:txBody>
      </p:sp>
    </p:spTree>
    <p:extLst>
      <p:ext uri="{BB962C8B-B14F-4D97-AF65-F5344CB8AC3E}">
        <p14:creationId xmlns:p14="http://schemas.microsoft.com/office/powerpoint/2010/main" val="2378992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16D68B-8ED2-C6D9-7C39-DAD22B92A3A2}"/>
              </a:ext>
            </a:extLst>
          </p:cNvPr>
          <p:cNvSpPr txBox="1"/>
          <p:nvPr/>
        </p:nvSpPr>
        <p:spPr>
          <a:xfrm>
            <a:off x="457200" y="1106057"/>
            <a:ext cx="9144000" cy="5262979"/>
          </a:xfrm>
          <a:prstGeom prst="rect">
            <a:avLst/>
          </a:prstGeom>
          <a:noFill/>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PROBLEM STATEMENT</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Organizations require a centralized system to manage employee records    efficiently. Manual methods lead to poor data organization, time-consuming searches, and salary inconsistencies.</a:t>
            </a:r>
            <a:endParaRPr lang="en-US"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The project focuses on developing a MERN-based web application that 	performs CRUD operations and enables department and salary-based search filtering.</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b="1" dirty="0">
                <a:latin typeface="Times New Roman" panose="02020603050405020304" pitchFamily="18" charset="0"/>
                <a:cs typeface="Times New Roman" panose="02020603050405020304" pitchFamily="18" charset="0"/>
              </a:rPr>
              <a:t>OBJECTIVES</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To develop a web-based Employee Record Management System using the MERN stack that enables efficient management of employee details, salary information, and department data through CRUD operations and search filtering.</a:t>
            </a:r>
            <a:endParaRPr lang="en-IN" sz="20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2" name="object 3">
            <a:extLst>
              <a:ext uri="{FF2B5EF4-FFF2-40B4-BE49-F238E27FC236}">
                <a16:creationId xmlns:a16="http://schemas.microsoft.com/office/drawing/2014/main" id="{34729387-139D-4FC4-E8C5-BAFE1D531191}"/>
              </a:ext>
            </a:extLst>
          </p:cNvPr>
          <p:cNvPicPr/>
          <p:nvPr/>
        </p:nvPicPr>
        <p:blipFill>
          <a:blip r:embed="rId2" cstate="print"/>
          <a:stretch>
            <a:fillRect/>
          </a:stretch>
        </p:blipFill>
        <p:spPr>
          <a:xfrm>
            <a:off x="290750" y="204311"/>
            <a:ext cx="1163002" cy="424338"/>
          </a:xfrm>
          <a:prstGeom prst="rect">
            <a:avLst/>
          </a:prstGeom>
        </p:spPr>
      </p:pic>
      <p:sp>
        <p:nvSpPr>
          <p:cNvPr id="4" name="TextBox 3">
            <a:extLst>
              <a:ext uri="{FF2B5EF4-FFF2-40B4-BE49-F238E27FC236}">
                <a16:creationId xmlns:a16="http://schemas.microsoft.com/office/drawing/2014/main" id="{127AD16D-13E3-534F-B990-F3535E2321C0}"/>
              </a:ext>
            </a:extLst>
          </p:cNvPr>
          <p:cNvSpPr txBox="1"/>
          <p:nvPr/>
        </p:nvSpPr>
        <p:spPr>
          <a:xfrm>
            <a:off x="2209800" y="457200"/>
            <a:ext cx="184731" cy="369332"/>
          </a:xfrm>
          <a:prstGeom prst="rect">
            <a:avLst/>
          </a:prstGeom>
          <a:noFill/>
        </p:spPr>
        <p:txBody>
          <a:bodyPr wrap="none" rtlCol="0">
            <a:spAutoFit/>
          </a:bodyPr>
          <a:lstStyle/>
          <a:p>
            <a:endParaRPr lang="en-IN" dirty="0"/>
          </a:p>
        </p:txBody>
      </p:sp>
      <p:grpSp>
        <p:nvGrpSpPr>
          <p:cNvPr id="5" name="object 3">
            <a:extLst>
              <a:ext uri="{FF2B5EF4-FFF2-40B4-BE49-F238E27FC236}">
                <a16:creationId xmlns:a16="http://schemas.microsoft.com/office/drawing/2014/main" id="{4E9803B0-F72C-90D0-0168-1AE4A66871BF}"/>
              </a:ext>
            </a:extLst>
          </p:cNvPr>
          <p:cNvGrpSpPr/>
          <p:nvPr/>
        </p:nvGrpSpPr>
        <p:grpSpPr>
          <a:xfrm>
            <a:off x="2020048" y="-133351"/>
            <a:ext cx="6018304" cy="1524000"/>
            <a:chOff x="2648188" y="47148"/>
            <a:chExt cx="5103904" cy="1198311"/>
          </a:xfrm>
        </p:grpSpPr>
        <p:pic>
          <p:nvPicPr>
            <p:cNvPr id="6" name="object 4">
              <a:extLst>
                <a:ext uri="{FF2B5EF4-FFF2-40B4-BE49-F238E27FC236}">
                  <a16:creationId xmlns:a16="http://schemas.microsoft.com/office/drawing/2014/main" id="{0B9A7ECE-398F-7283-C8FE-3145DEDBE9D8}"/>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EE6DD58F-C29C-810A-99B1-681505324493}"/>
                </a:ext>
              </a:extLst>
            </p:cNvPr>
            <p:cNvPicPr/>
            <p:nvPr/>
          </p:nvPicPr>
          <p:blipFill>
            <a:blip r:embed="rId4" cstate="print"/>
            <a:stretch>
              <a:fillRect/>
            </a:stretch>
          </p:blipFill>
          <p:spPr>
            <a:xfrm>
              <a:off x="2648188" y="100164"/>
              <a:ext cx="4997767" cy="1092279"/>
            </a:xfrm>
            <a:prstGeom prst="rect">
              <a:avLst/>
            </a:prstGeom>
          </p:spPr>
        </p:pic>
        <p:pic>
          <p:nvPicPr>
            <p:cNvPr id="8" name="object 6">
              <a:extLst>
                <a:ext uri="{FF2B5EF4-FFF2-40B4-BE49-F238E27FC236}">
                  <a16:creationId xmlns:a16="http://schemas.microsoft.com/office/drawing/2014/main" id="{0F7F65E9-BEFF-2F7A-BEB7-5F5BA9654082}"/>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70FF3B07-2831-00E1-011A-9E064019A6F5}"/>
                </a:ext>
              </a:extLst>
            </p:cNvPr>
            <p:cNvSpPr/>
            <p:nvPr/>
          </p:nvSpPr>
          <p:spPr>
            <a:xfrm>
              <a:off x="2828925" y="289371"/>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l"/>
              <a:r>
                <a:rPr lang="en-US" sz="2800" dirty="0">
                  <a:latin typeface="Times New Roman" panose="02020603050405020304" pitchFamily="18" charset="0"/>
                  <a:cs typeface="Times New Roman" panose="02020603050405020304" pitchFamily="18" charset="0"/>
                </a:rPr>
                <a:t>            </a:t>
              </a:r>
              <a:r>
                <a:rPr lang="en-US" sz="2000" b="1" dirty="0">
                  <a:solidFill>
                    <a:schemeClr val="bg1"/>
                  </a:solidFill>
                  <a:latin typeface="Times New Roman" panose="02020603050405020304" pitchFamily="18" charset="0"/>
                  <a:cs typeface="Times New Roman" panose="02020603050405020304" pitchFamily="18" charset="0"/>
                </a:rPr>
                <a:t>PROJECT OVERVIEW</a:t>
              </a:r>
              <a:endParaRPr sz="2800" b="1"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4215705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93515-5479-4428-C3DE-5B437C0ECB4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A0B0A2B-2A71-FBF5-1AA3-8C0A33956BA4}"/>
              </a:ext>
            </a:extLst>
          </p:cNvPr>
          <p:cNvSpPr txBox="1"/>
          <p:nvPr/>
        </p:nvSpPr>
        <p:spPr>
          <a:xfrm>
            <a:off x="457200" y="1106057"/>
            <a:ext cx="9144000" cy="585955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Employee Record Management System (MERN Stack) is a web-based application developed to simplify and automate the management of employee information within an organization. In many companies, employee data such as personal details, department, and salary are often maintained manually or in scattered systems, leading to inefficiency, data redundancy, and difficulty in accessing information.</a:t>
            </a:r>
          </a:p>
          <a:p>
            <a:pPr marL="285750" indent="-285750">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overcome these challenges, this project provides a centralized digital solution using the MERN stack (MongoDB, Express.js, Node.js, and frontend technologies). The system allows administrators to efficiently perform CRUD operations—adding, viewing, updating, and deleting employee records in a structured manner.</a:t>
            </a:r>
          </a:p>
          <a:p>
            <a:pPr marL="285750" indent="-285750">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addition, the application includes search and filtering features, enabling users to quickly find employees based on name, department, or salary. This improves data accessibility and helps in better decision-making.</a:t>
            </a:r>
          </a:p>
        </p:txBody>
      </p:sp>
      <p:pic>
        <p:nvPicPr>
          <p:cNvPr id="2" name="object 3">
            <a:extLst>
              <a:ext uri="{FF2B5EF4-FFF2-40B4-BE49-F238E27FC236}">
                <a16:creationId xmlns:a16="http://schemas.microsoft.com/office/drawing/2014/main" id="{41062EF9-2A17-E918-93F3-D63E4B7C91F1}"/>
              </a:ext>
            </a:extLst>
          </p:cNvPr>
          <p:cNvPicPr/>
          <p:nvPr/>
        </p:nvPicPr>
        <p:blipFill>
          <a:blip r:embed="rId2" cstate="print"/>
          <a:stretch>
            <a:fillRect/>
          </a:stretch>
        </p:blipFill>
        <p:spPr>
          <a:xfrm>
            <a:off x="290750" y="204311"/>
            <a:ext cx="1163002" cy="424338"/>
          </a:xfrm>
          <a:prstGeom prst="rect">
            <a:avLst/>
          </a:prstGeom>
        </p:spPr>
      </p:pic>
      <p:sp>
        <p:nvSpPr>
          <p:cNvPr id="4" name="TextBox 3">
            <a:extLst>
              <a:ext uri="{FF2B5EF4-FFF2-40B4-BE49-F238E27FC236}">
                <a16:creationId xmlns:a16="http://schemas.microsoft.com/office/drawing/2014/main" id="{5F0A88C0-EBC8-FA23-7B1A-55C8142C0F48}"/>
              </a:ext>
            </a:extLst>
          </p:cNvPr>
          <p:cNvSpPr txBox="1"/>
          <p:nvPr/>
        </p:nvSpPr>
        <p:spPr>
          <a:xfrm>
            <a:off x="2209800" y="457200"/>
            <a:ext cx="184731" cy="369332"/>
          </a:xfrm>
          <a:prstGeom prst="rect">
            <a:avLst/>
          </a:prstGeom>
          <a:noFill/>
        </p:spPr>
        <p:txBody>
          <a:bodyPr wrap="none" rtlCol="0">
            <a:spAutoFit/>
          </a:bodyPr>
          <a:lstStyle/>
          <a:p>
            <a:endParaRPr lang="en-IN" dirty="0"/>
          </a:p>
        </p:txBody>
      </p:sp>
      <p:grpSp>
        <p:nvGrpSpPr>
          <p:cNvPr id="5" name="object 3">
            <a:extLst>
              <a:ext uri="{FF2B5EF4-FFF2-40B4-BE49-F238E27FC236}">
                <a16:creationId xmlns:a16="http://schemas.microsoft.com/office/drawing/2014/main" id="{E694C1CE-9C6B-1F2F-8801-61C9EFBD57F7}"/>
              </a:ext>
            </a:extLst>
          </p:cNvPr>
          <p:cNvGrpSpPr/>
          <p:nvPr/>
        </p:nvGrpSpPr>
        <p:grpSpPr>
          <a:xfrm>
            <a:off x="2020048" y="-133351"/>
            <a:ext cx="6018304" cy="1524000"/>
            <a:chOff x="2648188" y="47148"/>
            <a:chExt cx="5103904" cy="1198311"/>
          </a:xfrm>
        </p:grpSpPr>
        <p:pic>
          <p:nvPicPr>
            <p:cNvPr id="6" name="object 4">
              <a:extLst>
                <a:ext uri="{FF2B5EF4-FFF2-40B4-BE49-F238E27FC236}">
                  <a16:creationId xmlns:a16="http://schemas.microsoft.com/office/drawing/2014/main" id="{4A0696EB-023D-6F35-2423-0D72D1267775}"/>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56FA326-6870-C9D9-1AC1-75354C41AD44}"/>
                </a:ext>
              </a:extLst>
            </p:cNvPr>
            <p:cNvPicPr/>
            <p:nvPr/>
          </p:nvPicPr>
          <p:blipFill>
            <a:blip r:embed="rId4" cstate="print"/>
            <a:stretch>
              <a:fillRect/>
            </a:stretch>
          </p:blipFill>
          <p:spPr>
            <a:xfrm>
              <a:off x="2648188" y="100164"/>
              <a:ext cx="4997767" cy="1092279"/>
            </a:xfrm>
            <a:prstGeom prst="rect">
              <a:avLst/>
            </a:prstGeom>
          </p:spPr>
        </p:pic>
        <p:pic>
          <p:nvPicPr>
            <p:cNvPr id="8" name="object 6">
              <a:extLst>
                <a:ext uri="{FF2B5EF4-FFF2-40B4-BE49-F238E27FC236}">
                  <a16:creationId xmlns:a16="http://schemas.microsoft.com/office/drawing/2014/main" id="{CB7AEC9F-91A7-4D0C-BB52-A6C4149EBE7D}"/>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B54889A8-6B5F-1436-158E-658E5601A6EC}"/>
                </a:ext>
              </a:extLst>
            </p:cNvPr>
            <p:cNvSpPr/>
            <p:nvPr/>
          </p:nvSpPr>
          <p:spPr>
            <a:xfrm>
              <a:off x="2828925" y="289371"/>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l"/>
              <a:r>
                <a:rPr lang="en-US" sz="2800" dirty="0">
                  <a:latin typeface="Times New Roman" panose="02020603050405020304" pitchFamily="18" charset="0"/>
                  <a:cs typeface="Times New Roman" panose="02020603050405020304" pitchFamily="18" charset="0"/>
                </a:rPr>
                <a:t>                  </a:t>
              </a:r>
              <a:r>
                <a:rPr lang="en-US" sz="2000" b="1" dirty="0">
                  <a:solidFill>
                    <a:schemeClr val="bg1"/>
                  </a:solidFill>
                  <a:latin typeface="Times New Roman" panose="02020603050405020304" pitchFamily="18" charset="0"/>
                  <a:cs typeface="Times New Roman" panose="02020603050405020304" pitchFamily="18" charset="0"/>
                </a:rPr>
                <a:t>INTRODUCTION</a:t>
              </a:r>
              <a:endParaRPr sz="2800" b="1"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540999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819400" y="75847"/>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2819400" y="266485"/>
            <a:ext cx="5029200" cy="461665"/>
          </a:xfrm>
          <a:prstGeom prst="rect">
            <a:avLst/>
          </a:prstGeom>
          <a:noFill/>
        </p:spPr>
        <p:txBody>
          <a:bodyPr wrap="square">
            <a:spAutoFit/>
          </a:bodyPr>
          <a:lstStyle/>
          <a:p>
            <a:r>
              <a:rPr lang="en-US" sz="2000" b="1"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Analysis &amp; Design</a:t>
            </a:r>
            <a:endParaRPr lang="en-IN" sz="2400" b="1" dirty="0">
              <a:solidFill>
                <a:schemeClr val="bg1"/>
              </a:solidFill>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EED75953-77B8-EB79-983F-0DFB76BE35E9}"/>
              </a:ext>
            </a:extLst>
          </p:cNvPr>
          <p:cNvPicPr/>
          <p:nvPr/>
        </p:nvPicPr>
        <p:blipFill>
          <a:blip r:embed="rId6" cstate="print"/>
          <a:stretch>
            <a:fillRect/>
          </a:stretch>
        </p:blipFill>
        <p:spPr>
          <a:xfrm>
            <a:off x="290750" y="204311"/>
            <a:ext cx="1163002" cy="424338"/>
          </a:xfrm>
          <a:prstGeom prst="rect">
            <a:avLst/>
          </a:prstGeom>
        </p:spPr>
      </p:pic>
      <p:sp>
        <p:nvSpPr>
          <p:cNvPr id="3" name="Rectangle 1"/>
          <p:cNvSpPr>
            <a:spLocks noChangeArrowheads="1"/>
          </p:cNvSpPr>
          <p:nvPr/>
        </p:nvSpPr>
        <p:spPr bwMode="auto">
          <a:xfrm>
            <a:off x="965261" y="3617309"/>
            <a:ext cx="2997139"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Add Employee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View Employees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Update Employee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Delete Employee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Search by Name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Filter by Department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Filter by Salary</a:t>
            </a:r>
          </a:p>
        </p:txBody>
      </p:sp>
      <p:sp>
        <p:nvSpPr>
          <p:cNvPr id="9" name="TextBox 8">
            <a:extLst>
              <a:ext uri="{FF2B5EF4-FFF2-40B4-BE49-F238E27FC236}">
                <a16:creationId xmlns:a16="http://schemas.microsoft.com/office/drawing/2014/main" id="{39D1F591-F4F4-7E95-E795-0ECF28434BA8}"/>
              </a:ext>
            </a:extLst>
          </p:cNvPr>
          <p:cNvSpPr txBox="1"/>
          <p:nvPr/>
        </p:nvSpPr>
        <p:spPr>
          <a:xfrm>
            <a:off x="965261" y="1717640"/>
            <a:ext cx="3394948" cy="923330"/>
          </a:xfrm>
          <a:prstGeom prst="rect">
            <a:avLst/>
          </a:prstGeom>
          <a:noFill/>
        </p:spPr>
        <p:txBody>
          <a:bodyPr wrap="square">
            <a:spAutoFit/>
          </a:bodyPr>
          <a:lstStyle/>
          <a:p>
            <a:pPr algn="l"/>
            <a:r>
              <a:rPr lang="en-IN" b="1" u="sng" dirty="0"/>
              <a:t>System Users</a:t>
            </a:r>
          </a:p>
          <a:p>
            <a:pPr algn="ctr"/>
            <a:endParaRPr lang="en-IN" b="1" u="sng" dirty="0"/>
          </a:p>
          <a:p>
            <a:pPr marL="285750" indent="-285750">
              <a:buFont typeface="Arial" panose="020B0604020202020204" pitchFamily="34" charset="0"/>
              <a:buChar char="•"/>
            </a:pPr>
            <a:r>
              <a:rPr lang="en-IN" b="1" dirty="0"/>
              <a:t>Admin</a:t>
            </a:r>
          </a:p>
        </p:txBody>
      </p:sp>
      <p:sp>
        <p:nvSpPr>
          <p:cNvPr id="11" name="TextBox 10">
            <a:extLst>
              <a:ext uri="{FF2B5EF4-FFF2-40B4-BE49-F238E27FC236}">
                <a16:creationId xmlns:a16="http://schemas.microsoft.com/office/drawing/2014/main" id="{34CC1EC9-5660-0866-7E62-00D636D3D113}"/>
              </a:ext>
            </a:extLst>
          </p:cNvPr>
          <p:cNvSpPr txBox="1"/>
          <p:nvPr/>
        </p:nvSpPr>
        <p:spPr>
          <a:xfrm>
            <a:off x="-345827" y="2971800"/>
            <a:ext cx="5409210" cy="1200329"/>
          </a:xfrm>
          <a:prstGeom prst="rect">
            <a:avLst/>
          </a:prstGeom>
          <a:noFill/>
        </p:spPr>
        <p:txBody>
          <a:bodyPr wrap="square">
            <a:spAutoFit/>
          </a:bodyPr>
          <a:lstStyle/>
          <a:p>
            <a:pPr algn="ctr"/>
            <a:r>
              <a:rPr lang="en-US" b="1" u="sng" dirty="0"/>
              <a:t>Functional Requirements</a:t>
            </a:r>
          </a:p>
          <a:p>
            <a:pPr algn="ctr"/>
            <a:endParaRPr lang="en-US" b="1" u="sng" dirty="0"/>
          </a:p>
          <a:p>
            <a:pPr algn="ctr"/>
            <a:endParaRPr lang="en-US" b="1" u="sng" dirty="0"/>
          </a:p>
          <a:p>
            <a:pPr algn="ctr"/>
            <a:endParaRPr lang="en-US" b="1" u="sng" dirty="0"/>
          </a:p>
        </p:txBody>
      </p:sp>
      <p:sp>
        <p:nvSpPr>
          <p:cNvPr id="13" name="TextBox 12">
            <a:extLst>
              <a:ext uri="{FF2B5EF4-FFF2-40B4-BE49-F238E27FC236}">
                <a16:creationId xmlns:a16="http://schemas.microsoft.com/office/drawing/2014/main" id="{7C54FACB-F3C0-71B7-C565-53FE62A46131}"/>
              </a:ext>
            </a:extLst>
          </p:cNvPr>
          <p:cNvSpPr txBox="1"/>
          <p:nvPr/>
        </p:nvSpPr>
        <p:spPr>
          <a:xfrm>
            <a:off x="4495800" y="1559887"/>
            <a:ext cx="5409210" cy="369332"/>
          </a:xfrm>
          <a:prstGeom prst="rect">
            <a:avLst/>
          </a:prstGeom>
          <a:noFill/>
        </p:spPr>
        <p:txBody>
          <a:bodyPr wrap="square">
            <a:spAutoFit/>
          </a:bodyPr>
          <a:lstStyle/>
          <a:p>
            <a:pPr algn="ctr"/>
            <a:r>
              <a:rPr lang="en-US" b="1" u="sng" dirty="0"/>
              <a:t>Employee Schema (MongoDB)</a:t>
            </a:r>
          </a:p>
        </p:txBody>
      </p:sp>
      <p:sp>
        <p:nvSpPr>
          <p:cNvPr id="16" name="TextBox 15">
            <a:extLst>
              <a:ext uri="{FF2B5EF4-FFF2-40B4-BE49-F238E27FC236}">
                <a16:creationId xmlns:a16="http://schemas.microsoft.com/office/drawing/2014/main" id="{DBF87C7E-613F-6BD8-0C76-0FC14E50E8A7}"/>
              </a:ext>
            </a:extLst>
          </p:cNvPr>
          <p:cNvSpPr txBox="1"/>
          <p:nvPr/>
        </p:nvSpPr>
        <p:spPr>
          <a:xfrm>
            <a:off x="5698193" y="2235600"/>
            <a:ext cx="5409210" cy="4524315"/>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_id</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name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email</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department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salary</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username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password</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position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status</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DA3B8D51-4FE9-3CD1-F772-DAC1DD51F7B4}"/>
              </a:ext>
            </a:extLst>
          </p:cNvPr>
          <p:cNvSpPr txBox="1"/>
          <p:nvPr/>
        </p:nvSpPr>
        <p:spPr>
          <a:xfrm>
            <a:off x="965261" y="6172200"/>
            <a:ext cx="7950139"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Note: Data is stored in MongoDB using a schema defined with Mongoose.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89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286000" y="204311"/>
            <a:ext cx="6172200" cy="1624489"/>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5" cstate="print"/>
            <a:stretch>
              <a:fillRect/>
            </a:stretch>
          </p:blipFill>
          <p:spPr>
            <a:xfrm>
              <a:off x="2883931" y="243549"/>
              <a:ext cx="4530262"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2535046" y="594570"/>
            <a:ext cx="4988307" cy="392415"/>
          </a:xfrm>
          <a:prstGeom prst="rect">
            <a:avLst/>
          </a:prstGeom>
          <a:noFill/>
        </p:spPr>
        <p:txBody>
          <a:bodyPr wrap="square">
            <a:spAutoFit/>
          </a:bodyPr>
          <a:lstStyle/>
          <a:p>
            <a:r>
              <a:rPr lang="en-US" sz="1950" b="1" dirty="0">
                <a:solidFill>
                  <a:schemeClr val="bg1"/>
                </a:solidFill>
                <a:latin typeface="Times New Roman" panose="02020603050405020304" pitchFamily="18" charset="0"/>
                <a:cs typeface="Times New Roman" panose="02020603050405020304" pitchFamily="18" charset="0"/>
              </a:rPr>
              <a:t>                S</a:t>
            </a:r>
            <a:r>
              <a:rPr lang="en-IN" sz="1950" b="1" dirty="0">
                <a:solidFill>
                  <a:schemeClr val="bg1"/>
                </a:solidFill>
                <a:latin typeface="Times New Roman" panose="02020603050405020304" pitchFamily="18" charset="0"/>
                <a:cs typeface="Times New Roman" panose="02020603050405020304" pitchFamily="18" charset="0"/>
              </a:rPr>
              <a:t>YSTEM ARCHITECTURE</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6" cstate="print"/>
          <a:stretch>
            <a:fillRect/>
          </a:stretch>
        </p:blipFill>
        <p:spPr>
          <a:xfrm>
            <a:off x="290750" y="204311"/>
            <a:ext cx="1163002" cy="424338"/>
          </a:xfrm>
          <a:prstGeom prst="rect">
            <a:avLst/>
          </a:prstGeom>
        </p:spPr>
      </p:pic>
      <p:sp>
        <p:nvSpPr>
          <p:cNvPr id="25" name="TextBox 24">
            <a:extLst>
              <a:ext uri="{FF2B5EF4-FFF2-40B4-BE49-F238E27FC236}">
                <a16:creationId xmlns:a16="http://schemas.microsoft.com/office/drawing/2014/main" id="{FC1E3646-9812-E870-B88E-167AD8B5CA86}"/>
              </a:ext>
            </a:extLst>
          </p:cNvPr>
          <p:cNvSpPr txBox="1"/>
          <p:nvPr/>
        </p:nvSpPr>
        <p:spPr>
          <a:xfrm>
            <a:off x="872251" y="3102686"/>
            <a:ext cx="5486400" cy="369332"/>
          </a:xfrm>
          <a:prstGeom prst="rect">
            <a:avLst/>
          </a:prstGeom>
          <a:noFill/>
        </p:spPr>
        <p:txBody>
          <a:bodyPr wrap="square" rtlCol="0">
            <a:spAutoFit/>
          </a:bodyPr>
          <a:lstStyle/>
          <a:p>
            <a:r>
              <a:rPr lang="en-US" dirty="0"/>
              <a:t>      </a:t>
            </a:r>
            <a:endParaRPr lang="en-IN" dirty="0"/>
          </a:p>
        </p:txBody>
      </p:sp>
      <p:sp>
        <p:nvSpPr>
          <p:cNvPr id="2" name="Rectangle 1" descr="Web Design">
            <a:extLst>
              <a:ext uri="{FF2B5EF4-FFF2-40B4-BE49-F238E27FC236}">
                <a16:creationId xmlns:a16="http://schemas.microsoft.com/office/drawing/2014/main" id="{35D03123-27EC-120C-23DE-817C9E534A46}"/>
              </a:ext>
            </a:extLst>
          </p:cNvPr>
          <p:cNvSpPr/>
          <p:nvPr/>
        </p:nvSpPr>
        <p:spPr>
          <a:xfrm>
            <a:off x="4191000" y="1257029"/>
            <a:ext cx="1308013" cy="1308013"/>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IN" dirty="0"/>
          </a:p>
        </p:txBody>
      </p:sp>
      <p:sp>
        <p:nvSpPr>
          <p:cNvPr id="9" name="TextBox 8">
            <a:extLst>
              <a:ext uri="{FF2B5EF4-FFF2-40B4-BE49-F238E27FC236}">
                <a16:creationId xmlns:a16="http://schemas.microsoft.com/office/drawing/2014/main" id="{E1B984BF-F997-0814-47FA-F5B1CD67513D}"/>
              </a:ext>
            </a:extLst>
          </p:cNvPr>
          <p:cNvSpPr txBox="1"/>
          <p:nvPr/>
        </p:nvSpPr>
        <p:spPr>
          <a:xfrm>
            <a:off x="3276600" y="2482807"/>
            <a:ext cx="5029200" cy="400110"/>
          </a:xfrm>
          <a:prstGeom prst="rect">
            <a:avLst/>
          </a:prstGeom>
          <a:noFill/>
        </p:spPr>
        <p:txBody>
          <a:bodyPr wrap="square">
            <a:spAutoFit/>
          </a:bodyPr>
          <a:lstStyle/>
          <a:p>
            <a:pPr lvl="0">
              <a:lnSpc>
                <a:spcPct val="100000"/>
              </a:lnSpc>
            </a:pPr>
            <a:r>
              <a:rPr lang="en-IN" sz="2000" b="1" dirty="0">
                <a:latin typeface="Times New Roman" panose="02020603050405020304" pitchFamily="18" charset="0"/>
                <a:cs typeface="Times New Roman" panose="02020603050405020304" pitchFamily="18" charset="0"/>
              </a:rPr>
              <a:t>Frontend (React.js)</a:t>
            </a:r>
            <a:endParaRPr lang="en-US" sz="2000" b="1"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FBA2E038-1ED7-D711-B2A4-0F3898B3C98D}"/>
              </a:ext>
            </a:extLst>
          </p:cNvPr>
          <p:cNvSpPr/>
          <p:nvPr/>
        </p:nvSpPr>
        <p:spPr>
          <a:xfrm>
            <a:off x="4267200" y="2836735"/>
            <a:ext cx="1308013" cy="1308013"/>
          </a:xfrm>
          <a:prstGeom prst="rect">
            <a:avLst/>
          </a:prstGeom>
          <a:blipFill rotWithShape="1">
            <a:blip>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IN"/>
          </a:p>
        </p:txBody>
      </p:sp>
      <p:sp>
        <p:nvSpPr>
          <p:cNvPr id="12" name="TextBox 11">
            <a:extLst>
              <a:ext uri="{FF2B5EF4-FFF2-40B4-BE49-F238E27FC236}">
                <a16:creationId xmlns:a16="http://schemas.microsoft.com/office/drawing/2014/main" id="{132CA2FD-8473-8BAF-9E31-E3DDFE61C136}"/>
              </a:ext>
            </a:extLst>
          </p:cNvPr>
          <p:cNvSpPr txBox="1"/>
          <p:nvPr/>
        </p:nvSpPr>
        <p:spPr>
          <a:xfrm>
            <a:off x="2697126" y="4144748"/>
            <a:ext cx="5029200" cy="400110"/>
          </a:xfrm>
          <a:prstGeom prst="rect">
            <a:avLst/>
          </a:prstGeom>
          <a:noFill/>
        </p:spPr>
        <p:txBody>
          <a:bodyPr wrap="square">
            <a:spAutoFit/>
          </a:bodyPr>
          <a:lstStyle/>
          <a:p>
            <a:pPr lvl="0">
              <a:lnSpc>
                <a:spcPct val="100000"/>
              </a:lnSpc>
            </a:pPr>
            <a:r>
              <a:rPr lang="en-US" sz="2000" b="1" dirty="0">
                <a:latin typeface="Times New Roman" panose="02020603050405020304" pitchFamily="18" charset="0"/>
                <a:cs typeface="Times New Roman" panose="02020603050405020304" pitchFamily="18" charset="0"/>
              </a:rPr>
              <a:t>Backend (</a:t>
            </a:r>
            <a:r>
              <a:rPr lang="en-IN" sz="2000" b="1" dirty="0">
                <a:latin typeface="Times New Roman" panose="02020603050405020304" pitchFamily="18" charset="0"/>
                <a:cs typeface="Times New Roman" panose="02020603050405020304" pitchFamily="18" charset="0"/>
              </a:rPr>
              <a:t>Express.js REST API (Node.js))</a:t>
            </a:r>
            <a:endParaRPr lang="en-US" sz="2000" b="1" dirty="0">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64A83482-5F33-A29B-C98E-25DE22571818}"/>
              </a:ext>
            </a:extLst>
          </p:cNvPr>
          <p:cNvSpPr/>
          <p:nvPr/>
        </p:nvSpPr>
        <p:spPr>
          <a:xfrm>
            <a:off x="4267200" y="4764627"/>
            <a:ext cx="1308013" cy="1308013"/>
          </a:xfrm>
          <a:prstGeom prst="rect">
            <a:avLst/>
          </a:prstGeom>
          <a:blipFill rotWithShape="1">
            <a:blip>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IN" dirty="0"/>
          </a:p>
        </p:txBody>
      </p:sp>
      <p:sp>
        <p:nvSpPr>
          <p:cNvPr id="16" name="TextBox 15">
            <a:extLst>
              <a:ext uri="{FF2B5EF4-FFF2-40B4-BE49-F238E27FC236}">
                <a16:creationId xmlns:a16="http://schemas.microsoft.com/office/drawing/2014/main" id="{205D62B9-6C01-3040-D69D-368CEF32F41B}"/>
              </a:ext>
            </a:extLst>
          </p:cNvPr>
          <p:cNvSpPr txBox="1"/>
          <p:nvPr/>
        </p:nvSpPr>
        <p:spPr>
          <a:xfrm>
            <a:off x="3844051" y="6211748"/>
            <a:ext cx="5029200" cy="400110"/>
          </a:xfrm>
          <a:prstGeom prst="rect">
            <a:avLst/>
          </a:prstGeom>
          <a:noFill/>
        </p:spPr>
        <p:txBody>
          <a:bodyPr wrap="square">
            <a:spAutoFit/>
          </a:bodyPr>
          <a:lstStyle/>
          <a:p>
            <a:pPr lvl="0">
              <a:lnSpc>
                <a:spcPct val="100000"/>
              </a:lnSpc>
            </a:pPr>
            <a:r>
              <a:rPr lang="en-IN" sz="2000" b="1" dirty="0">
                <a:latin typeface="Times New Roman" panose="02020603050405020304" pitchFamily="18" charset="0"/>
                <a:cs typeface="Times New Roman" panose="02020603050405020304" pitchFamily="18" charset="0"/>
              </a:rPr>
              <a:t>MongoDB Database</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3835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25B97-4948-1D36-1564-48F015098A9E}"/>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F6429C0E-D3D9-C6CC-7313-83F33EFBCF19}"/>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ANALYSIS</a:t>
            </a:r>
          </a:p>
        </p:txBody>
      </p:sp>
      <p:sp>
        <p:nvSpPr>
          <p:cNvPr id="16" name="TextBox 15">
            <a:extLst>
              <a:ext uri="{FF2B5EF4-FFF2-40B4-BE49-F238E27FC236}">
                <a16:creationId xmlns:a16="http://schemas.microsoft.com/office/drawing/2014/main" id="{A35C976F-1965-A32D-B4DC-F0B4E4BC385C}"/>
              </a:ext>
            </a:extLst>
          </p:cNvPr>
          <p:cNvSpPr txBox="1"/>
          <p:nvPr/>
        </p:nvSpPr>
        <p:spPr>
          <a:xfrm rot="10800000" flipV="1">
            <a:off x="304605" y="1440995"/>
            <a:ext cx="7408149" cy="1010854"/>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a:p>
            <a:pPr>
              <a:lnSpc>
                <a:spcPct val="150000"/>
              </a:lnSpc>
              <a:spcBef>
                <a:spcPts val="1200"/>
              </a:spcBef>
            </a:pPr>
            <a:endParaRPr lang="en-US" sz="2400" dirty="0">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D28B387B-EB3D-FC8A-3A51-DDD2B8696A73}"/>
              </a:ext>
            </a:extLst>
          </p:cNvPr>
          <p:cNvPicPr/>
          <p:nvPr/>
        </p:nvPicPr>
        <p:blipFill>
          <a:blip r:embed="rId2" cstate="print"/>
          <a:stretch>
            <a:fillRect/>
          </a:stretch>
        </p:blipFill>
        <p:spPr>
          <a:xfrm>
            <a:off x="290750" y="204311"/>
            <a:ext cx="1163002" cy="424338"/>
          </a:xfrm>
          <a:prstGeom prst="rect">
            <a:avLst/>
          </a:prstGeom>
        </p:spPr>
      </p:pic>
      <p:grpSp>
        <p:nvGrpSpPr>
          <p:cNvPr id="4" name="object 3">
            <a:extLst>
              <a:ext uri="{FF2B5EF4-FFF2-40B4-BE49-F238E27FC236}">
                <a16:creationId xmlns:a16="http://schemas.microsoft.com/office/drawing/2014/main" id="{9E5D4CBA-792A-9A89-0AB2-CDEC2141B44A}"/>
              </a:ext>
            </a:extLst>
          </p:cNvPr>
          <p:cNvGrpSpPr/>
          <p:nvPr/>
        </p:nvGrpSpPr>
        <p:grpSpPr>
          <a:xfrm>
            <a:off x="2438400" y="33670"/>
            <a:ext cx="5334000" cy="1490330"/>
            <a:chOff x="2648188" y="47148"/>
            <a:chExt cx="5103904" cy="1198311"/>
          </a:xfrm>
        </p:grpSpPr>
        <p:pic>
          <p:nvPicPr>
            <p:cNvPr id="5" name="object 4">
              <a:extLst>
                <a:ext uri="{FF2B5EF4-FFF2-40B4-BE49-F238E27FC236}">
                  <a16:creationId xmlns:a16="http://schemas.microsoft.com/office/drawing/2014/main" id="{893ECF15-0F2A-E378-A119-4899CDA0739D}"/>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6D3693EB-C0F7-2AAF-AD1A-2ED20DB8462F}"/>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922A5A9A-65E7-AEE5-B256-A00788B756D4}"/>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4CECB29-2E06-4F61-7349-B253EA095F86}"/>
                </a:ext>
              </a:extLst>
            </p:cNvPr>
            <p:cNvSpPr/>
            <p:nvPr/>
          </p:nvSpPr>
          <p:spPr>
            <a:xfrm>
              <a:off x="2881913" y="278438"/>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9" name="TextBox 8">
            <a:extLst>
              <a:ext uri="{FF2B5EF4-FFF2-40B4-BE49-F238E27FC236}">
                <a16:creationId xmlns:a16="http://schemas.microsoft.com/office/drawing/2014/main" id="{810FC6B3-C3A6-D9ED-37DC-E355BAED8EF5}"/>
              </a:ext>
            </a:extLst>
          </p:cNvPr>
          <p:cNvSpPr txBox="1"/>
          <p:nvPr/>
        </p:nvSpPr>
        <p:spPr>
          <a:xfrm>
            <a:off x="3243405" y="395693"/>
            <a:ext cx="3057247" cy="369332"/>
          </a:xfrm>
          <a:prstGeom prst="rect">
            <a:avLst/>
          </a:prstGeom>
          <a:noFill/>
        </p:spPr>
        <p:txBody>
          <a:bodyPr wrap="none" rtlCol="0">
            <a:spAutoFit/>
          </a:bodyPr>
          <a:lstStyle/>
          <a:p>
            <a:r>
              <a:rPr lang="en-US" b="1" dirty="0">
                <a:solidFill>
                  <a:schemeClr val="bg1"/>
                </a:solidFill>
                <a:latin typeface="Times New Roman" panose="02020603050405020304" pitchFamily="18" charset="0"/>
                <a:cs typeface="Times New Roman" panose="02020603050405020304" pitchFamily="18" charset="0"/>
              </a:rPr>
              <a:t>      TECHNOLOGY STACK</a:t>
            </a:r>
            <a:endParaRPr lang="en-IN"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7D95EFBE-2171-F36E-8459-7F0C4430F750}"/>
              </a:ext>
            </a:extLst>
          </p:cNvPr>
          <p:cNvSpPr txBox="1"/>
          <p:nvPr/>
        </p:nvSpPr>
        <p:spPr>
          <a:xfrm>
            <a:off x="872250" y="1208753"/>
            <a:ext cx="6976349" cy="5940088"/>
          </a:xfrm>
          <a:prstGeom prst="rect">
            <a:avLst/>
          </a:prstGeom>
          <a:noFill/>
        </p:spPr>
        <p:txBody>
          <a:bodyPr wrap="square">
            <a:spAutoFit/>
          </a:bodyPr>
          <a:lstStyle/>
          <a:p>
            <a:pPr lvl="0"/>
            <a:r>
              <a:rPr lang="en-US" b="1" dirty="0"/>
              <a:t>     </a:t>
            </a:r>
            <a:r>
              <a:rPr lang="en-US" sz="2000" b="1" dirty="0">
                <a:latin typeface="Times New Roman" panose="02020603050405020304" pitchFamily="18" charset="0"/>
                <a:cs typeface="Times New Roman" panose="02020603050405020304" pitchFamily="18" charset="0"/>
              </a:rPr>
              <a:t>Frontend Implementation.</a:t>
            </a:r>
          </a:p>
          <a:p>
            <a:pPr lvl="0"/>
            <a:endParaRPr lang="en-US" sz="2000" b="1" dirty="0">
              <a:latin typeface="Times New Roman" panose="02020603050405020304" pitchFamily="18" charset="0"/>
              <a:cs typeface="Times New Roman" panose="02020603050405020304" pitchFamily="18" charset="0"/>
            </a:endParaRPr>
          </a:p>
          <a:p>
            <a:pPr lvl="3"/>
            <a:r>
              <a:rPr lang="en-US" sz="2000" b="1" dirty="0"/>
              <a:t>           </a:t>
            </a:r>
            <a:r>
              <a:rPr lang="en-US" sz="2000" b="1" dirty="0">
                <a:latin typeface="Times New Roman" panose="02020603050405020304" pitchFamily="18" charset="0"/>
                <a:cs typeface="Times New Roman" panose="02020603050405020304" pitchFamily="18" charset="0"/>
              </a:rPr>
              <a:t>Frontend: </a:t>
            </a:r>
            <a:r>
              <a:rPr lang="en-US" sz="2000" dirty="0">
                <a:latin typeface="Times New Roman" panose="02020603050405020304" pitchFamily="18" charset="0"/>
                <a:cs typeface="Times New Roman" panose="02020603050405020304" pitchFamily="18" charset="0"/>
              </a:rPr>
              <a:t>React.js </a:t>
            </a:r>
            <a:r>
              <a:rPr lang="en-US" sz="2000" b="1" dirty="0">
                <a:latin typeface="Times New Roman" panose="02020603050405020304" pitchFamily="18" charset="0"/>
                <a:cs typeface="Times New Roman" panose="02020603050405020304" pitchFamily="18" charset="0"/>
              </a:rPr>
              <a:t>&amp; Styling : </a:t>
            </a:r>
            <a:r>
              <a:rPr lang="en-US" sz="2000" dirty="0">
                <a:latin typeface="Times New Roman" panose="02020603050405020304" pitchFamily="18" charset="0"/>
                <a:cs typeface="Times New Roman" panose="02020603050405020304" pitchFamily="18" charset="0"/>
              </a:rPr>
              <a:t>CSS</a:t>
            </a:r>
          </a:p>
          <a:p>
            <a:r>
              <a:rPr lang="en-US" sz="2000" dirty="0">
                <a:latin typeface="Times New Roman" panose="02020603050405020304" pitchFamily="18" charset="0"/>
                <a:cs typeface="Times New Roman" panose="02020603050405020304" pitchFamily="18" charset="0"/>
              </a:rPr>
              <a:t>	</a:t>
            </a:r>
          </a:p>
          <a:p>
            <a:r>
              <a:rPr lang="en-US" sz="2000" b="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Used </a:t>
            </a:r>
            <a:r>
              <a:rPr lang="en-US" sz="2000" b="1" dirty="0">
                <a:latin typeface="Times New Roman" panose="02020603050405020304" pitchFamily="18" charset="0"/>
                <a:cs typeface="Times New Roman" panose="02020603050405020304" pitchFamily="18" charset="0"/>
              </a:rPr>
              <a:t>JavaScript</a:t>
            </a:r>
            <a:r>
              <a:rPr lang="en-US" sz="2000" dirty="0">
                <a:latin typeface="Times New Roman" panose="02020603050405020304" pitchFamily="18" charset="0"/>
                <a:cs typeface="Times New Roman" panose="02020603050405020304" pitchFamily="18" charset="0"/>
              </a:rPr>
              <a:t> for search and filter</a:t>
            </a:r>
          </a:p>
          <a:p>
            <a:r>
              <a:rPr lang="en-US" sz="2000" dirty="0">
                <a:latin typeface="Times New Roman" panose="02020603050405020304" pitchFamily="18" charset="0"/>
                <a:cs typeface="Times New Roman" panose="02020603050405020304" pitchFamily="18" charset="0"/>
              </a:rPr>
              <a:t>             functionality.</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Backend Implementation.</a:t>
            </a:r>
          </a:p>
          <a:p>
            <a:endParaRPr lang="en-US" sz="2000" b="1" dirty="0"/>
          </a:p>
          <a:p>
            <a:r>
              <a:rPr lang="en-IN" sz="2000" dirty="0"/>
              <a:t>            </a:t>
            </a:r>
            <a:r>
              <a:rPr lang="en-US" sz="2000" b="1" dirty="0">
                <a:latin typeface="Times New Roman" panose="02020603050405020304" pitchFamily="18" charset="0"/>
                <a:cs typeface="Times New Roman" panose="02020603050405020304" pitchFamily="18" charset="0"/>
              </a:rPr>
              <a:t>Node.js </a:t>
            </a:r>
            <a:r>
              <a:rPr lang="en-US" sz="2000" dirty="0">
                <a:latin typeface="Times New Roman" panose="02020603050405020304" pitchFamily="18" charset="0"/>
                <a:cs typeface="Times New Roman" panose="02020603050405020304" pitchFamily="18" charset="0"/>
              </a:rPr>
              <a:t>as Runtime Environment and</a:t>
            </a:r>
            <a:r>
              <a:rPr lang="en-US" sz="2000" b="1" dirty="0">
                <a:latin typeface="Times New Roman" panose="02020603050405020304" pitchFamily="18" charset="0"/>
                <a:cs typeface="Times New Roman" panose="02020603050405020304" pitchFamily="18" charset="0"/>
              </a:rPr>
              <a:t> Express.js </a:t>
            </a:r>
            <a:r>
              <a:rPr lang="en-US" sz="2000" dirty="0">
                <a:latin typeface="Times New Roman" panose="02020603050405020304" pitchFamily="18" charset="0"/>
                <a:cs typeface="Times New Roman" panose="02020603050405020304" pitchFamily="18" charset="0"/>
              </a:rPr>
              <a:t>for 	REST API development</a:t>
            </a:r>
          </a:p>
          <a:p>
            <a:endParaRPr lang="en-US" sz="2000" b="1" dirty="0">
              <a:latin typeface="Times New Roman" panose="02020603050405020304" pitchFamily="18" charset="0"/>
              <a:cs typeface="Times New Roman" panose="02020603050405020304" pitchFamily="18" charset="0"/>
            </a:endParaRPr>
          </a:p>
          <a:p>
            <a:r>
              <a:rPr lang="en-IN" sz="2000" dirty="0"/>
              <a:t>    </a:t>
            </a:r>
            <a:r>
              <a:rPr lang="en-US" sz="2000" b="1" dirty="0">
                <a:latin typeface="Times New Roman" panose="02020603050405020304" pitchFamily="18" charset="0"/>
                <a:cs typeface="Times New Roman" panose="02020603050405020304" pitchFamily="18" charset="0"/>
              </a:rPr>
              <a:t>Database Implementation.</a:t>
            </a:r>
          </a:p>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             MongoDB for Database Storage  </a:t>
            </a:r>
          </a:p>
          <a:p>
            <a:endParaRPr lang="en-US" sz="800" b="1" dirty="0"/>
          </a:p>
          <a:p>
            <a:r>
              <a:rPr lang="en-IN" sz="2000" dirty="0"/>
              <a:t>            </a:t>
            </a:r>
            <a:r>
              <a:rPr lang="en-US" sz="2000" b="1" dirty="0">
                <a:latin typeface="Times New Roman" panose="02020603050405020304" pitchFamily="18" charset="0"/>
                <a:cs typeface="Times New Roman" panose="02020603050405020304" pitchFamily="18" charset="0"/>
              </a:rPr>
              <a:t>Mongoose </a:t>
            </a:r>
            <a:r>
              <a:rPr lang="en-US" sz="2000" b="0" dirty="0">
                <a:latin typeface="Times New Roman" panose="02020603050405020304" pitchFamily="18" charset="0"/>
                <a:cs typeface="Times New Roman" panose="02020603050405020304" pitchFamily="18" charset="0"/>
              </a:rPr>
              <a:t>for </a:t>
            </a:r>
            <a:r>
              <a:rPr lang="en-IN" sz="2000" dirty="0">
                <a:latin typeface="Times New Roman" panose="02020603050405020304" pitchFamily="18" charset="0"/>
                <a:cs typeface="Times New Roman" panose="02020603050405020304" pitchFamily="18" charset="0"/>
              </a:rPr>
              <a:t>Schema &amp; Database Integration.</a:t>
            </a:r>
            <a:endParaRPr lang="en-US" sz="2000" dirty="0">
              <a:latin typeface="Times New Roman" panose="02020603050405020304" pitchFamily="18" charset="0"/>
              <a:cs typeface="Times New Roman" panose="02020603050405020304" pitchFamily="18" charset="0"/>
            </a:endParaRPr>
          </a:p>
          <a:p>
            <a:endParaRPr lang="en-IN" sz="2000" dirty="0"/>
          </a:p>
          <a:p>
            <a:endParaRPr lang="en-US" sz="2000"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8F66026B-6535-A162-2F84-9F1101EFFD3A}"/>
              </a:ext>
            </a:extLst>
          </p:cNvPr>
          <p:cNvSpPr/>
          <p:nvPr/>
        </p:nvSpPr>
        <p:spPr>
          <a:xfrm>
            <a:off x="812605" y="1244920"/>
            <a:ext cx="326346" cy="326346"/>
          </a:xfrm>
          <a:prstGeom prst="rect">
            <a:avLst/>
          </a:prstGeom>
          <a:blipFill rotWithShape="1">
            <a:blip>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IN"/>
          </a:p>
        </p:txBody>
      </p:sp>
      <p:sp>
        <p:nvSpPr>
          <p:cNvPr id="14" name="Rectangle 13">
            <a:extLst>
              <a:ext uri="{FF2B5EF4-FFF2-40B4-BE49-F238E27FC236}">
                <a16:creationId xmlns:a16="http://schemas.microsoft.com/office/drawing/2014/main" id="{70A511A7-3EDB-6A65-7B3C-D98EABF638B8}"/>
              </a:ext>
            </a:extLst>
          </p:cNvPr>
          <p:cNvSpPr/>
          <p:nvPr/>
        </p:nvSpPr>
        <p:spPr>
          <a:xfrm>
            <a:off x="1290579" y="1873511"/>
            <a:ext cx="326346" cy="326346"/>
          </a:xfrm>
          <a:prstGeom prst="rect">
            <a:avLst/>
          </a:prstGeom>
          <a:blipFill>
            <a:blip r:embed="rId7"/>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IN" dirty="0"/>
          </a:p>
        </p:txBody>
      </p:sp>
      <p:sp>
        <p:nvSpPr>
          <p:cNvPr id="19" name="Rectangle 18" descr="Magnifying glass">
            <a:extLst>
              <a:ext uri="{FF2B5EF4-FFF2-40B4-BE49-F238E27FC236}">
                <a16:creationId xmlns:a16="http://schemas.microsoft.com/office/drawing/2014/main" id="{6ACFB288-F037-D5AB-6A17-D4225920DB1A}"/>
              </a:ext>
            </a:extLst>
          </p:cNvPr>
          <p:cNvSpPr/>
          <p:nvPr/>
        </p:nvSpPr>
        <p:spPr>
          <a:xfrm>
            <a:off x="1314792" y="2435022"/>
            <a:ext cx="326346" cy="326346"/>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IN" dirty="0"/>
          </a:p>
        </p:txBody>
      </p:sp>
      <p:sp>
        <p:nvSpPr>
          <p:cNvPr id="20" name="Rectangle 19">
            <a:extLst>
              <a:ext uri="{FF2B5EF4-FFF2-40B4-BE49-F238E27FC236}">
                <a16:creationId xmlns:a16="http://schemas.microsoft.com/office/drawing/2014/main" id="{69EB2974-08E0-1C50-A70C-176452EC536B}"/>
              </a:ext>
            </a:extLst>
          </p:cNvPr>
          <p:cNvSpPr/>
          <p:nvPr/>
        </p:nvSpPr>
        <p:spPr>
          <a:xfrm>
            <a:off x="806394" y="3414894"/>
            <a:ext cx="326346" cy="326346"/>
          </a:xfrm>
          <a:prstGeom prst="rect">
            <a:avLst/>
          </a:prstGeom>
          <a:blipFill>
            <a:blip r:embed="rId9"/>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IN" dirty="0"/>
          </a:p>
        </p:txBody>
      </p:sp>
      <p:sp>
        <p:nvSpPr>
          <p:cNvPr id="21" name="Rectangle 20" descr="Marker">
            <a:extLst>
              <a:ext uri="{FF2B5EF4-FFF2-40B4-BE49-F238E27FC236}">
                <a16:creationId xmlns:a16="http://schemas.microsoft.com/office/drawing/2014/main" id="{21C94808-98C4-681E-7109-39ED8D81CEEA}"/>
              </a:ext>
            </a:extLst>
          </p:cNvPr>
          <p:cNvSpPr/>
          <p:nvPr/>
        </p:nvSpPr>
        <p:spPr>
          <a:xfrm>
            <a:off x="1314792" y="4011464"/>
            <a:ext cx="326346" cy="326346"/>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IN"/>
          </a:p>
        </p:txBody>
      </p:sp>
      <p:sp>
        <p:nvSpPr>
          <p:cNvPr id="22" name="Rectangle 21" descr="Computer">
            <a:extLst>
              <a:ext uri="{FF2B5EF4-FFF2-40B4-BE49-F238E27FC236}">
                <a16:creationId xmlns:a16="http://schemas.microsoft.com/office/drawing/2014/main" id="{9D737649-0B00-3148-DA36-A4B9B39CED6A}"/>
              </a:ext>
            </a:extLst>
          </p:cNvPr>
          <p:cNvSpPr/>
          <p:nvPr/>
        </p:nvSpPr>
        <p:spPr>
          <a:xfrm>
            <a:off x="862364" y="4896475"/>
            <a:ext cx="326346" cy="326346"/>
          </a:xfrm>
          <a:prstGeom prst="rect">
            <a:avLst/>
          </a:prstGeom>
          <a:blipFill rotWithShape="1">
            <a:blip>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IN"/>
          </a:p>
        </p:txBody>
      </p:sp>
      <p:sp>
        <p:nvSpPr>
          <p:cNvPr id="26" name="Rectangle 25" descr="Recycle Sign">
            <a:extLst>
              <a:ext uri="{FF2B5EF4-FFF2-40B4-BE49-F238E27FC236}">
                <a16:creationId xmlns:a16="http://schemas.microsoft.com/office/drawing/2014/main" id="{B003F8CE-48CE-83AF-5841-9433C72C8FCC}"/>
              </a:ext>
            </a:extLst>
          </p:cNvPr>
          <p:cNvSpPr/>
          <p:nvPr/>
        </p:nvSpPr>
        <p:spPr>
          <a:xfrm>
            <a:off x="1314792" y="5957954"/>
            <a:ext cx="326346" cy="326346"/>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IN" dirty="0"/>
          </a:p>
        </p:txBody>
      </p:sp>
      <p:pic>
        <p:nvPicPr>
          <p:cNvPr id="10" name="Picture 9">
            <a:extLst>
              <a:ext uri="{FF2B5EF4-FFF2-40B4-BE49-F238E27FC236}">
                <a16:creationId xmlns:a16="http://schemas.microsoft.com/office/drawing/2014/main" id="{CB297734-D8DB-4227-A7F9-6D1398F1186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249365" y="5512181"/>
            <a:ext cx="457200" cy="377668"/>
          </a:xfrm>
          <a:prstGeom prst="rect">
            <a:avLst/>
          </a:prstGeom>
        </p:spPr>
      </p:pic>
    </p:spTree>
    <p:extLst>
      <p:ext uri="{BB962C8B-B14F-4D97-AF65-F5344CB8AC3E}">
        <p14:creationId xmlns:p14="http://schemas.microsoft.com/office/powerpoint/2010/main" val="1626336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43AB8-E5CD-AEE0-F6FF-BFAF1337AC11}"/>
              </a:ext>
            </a:extLst>
          </p:cNvPr>
          <p:cNvSpPr>
            <a:spLocks noGrp="1"/>
          </p:cNvSpPr>
          <p:nvPr>
            <p:ph type="title"/>
          </p:nvPr>
        </p:nvSpPr>
        <p:spPr>
          <a:xfrm>
            <a:off x="3505200" y="152400"/>
            <a:ext cx="2528570" cy="723275"/>
          </a:xfrm>
        </p:spPr>
        <p:txBody>
          <a:bodyPr/>
          <a:lstStyle/>
          <a:p>
            <a:br>
              <a:rPr lang="en-US" sz="2400" dirty="0">
                <a:latin typeface="Times New Roman" panose="02020603050405020304" pitchFamily="18" charset="0"/>
                <a:cs typeface="Times New Roman" panose="02020603050405020304" pitchFamily="18" charset="0"/>
              </a:rPr>
            </a:br>
            <a:endParaRPr lang="en-IN" dirty="0"/>
          </a:p>
        </p:txBody>
      </p:sp>
      <p:pic>
        <p:nvPicPr>
          <p:cNvPr id="5" name="object 3">
            <a:extLst>
              <a:ext uri="{FF2B5EF4-FFF2-40B4-BE49-F238E27FC236}">
                <a16:creationId xmlns:a16="http://schemas.microsoft.com/office/drawing/2014/main" id="{7592E041-D8DA-C45F-CF0F-7919F99F74CA}"/>
              </a:ext>
            </a:extLst>
          </p:cNvPr>
          <p:cNvPicPr/>
          <p:nvPr/>
        </p:nvPicPr>
        <p:blipFill>
          <a:blip r:embed="rId2" cstate="print"/>
          <a:stretch>
            <a:fillRect/>
          </a:stretch>
        </p:blipFill>
        <p:spPr>
          <a:xfrm>
            <a:off x="289030" y="152400"/>
            <a:ext cx="1163002" cy="424338"/>
          </a:xfrm>
          <a:prstGeom prst="rect">
            <a:avLst/>
          </a:prstGeom>
        </p:spPr>
      </p:pic>
      <p:grpSp>
        <p:nvGrpSpPr>
          <p:cNvPr id="6" name="object 3">
            <a:extLst>
              <a:ext uri="{FF2B5EF4-FFF2-40B4-BE49-F238E27FC236}">
                <a16:creationId xmlns:a16="http://schemas.microsoft.com/office/drawing/2014/main" id="{C3E14584-2290-E09F-A7B3-DC0EADE2257C}"/>
              </a:ext>
            </a:extLst>
          </p:cNvPr>
          <p:cNvGrpSpPr/>
          <p:nvPr/>
        </p:nvGrpSpPr>
        <p:grpSpPr>
          <a:xfrm>
            <a:off x="2209800" y="33670"/>
            <a:ext cx="5334000" cy="1490330"/>
            <a:chOff x="2648188" y="47148"/>
            <a:chExt cx="5103904" cy="1198311"/>
          </a:xfrm>
        </p:grpSpPr>
        <p:pic>
          <p:nvPicPr>
            <p:cNvPr id="7" name="object 4">
              <a:extLst>
                <a:ext uri="{FF2B5EF4-FFF2-40B4-BE49-F238E27FC236}">
                  <a16:creationId xmlns:a16="http://schemas.microsoft.com/office/drawing/2014/main" id="{92A8BB71-CF09-5AF8-AA18-50500B0AF093}"/>
                </a:ext>
              </a:extLst>
            </p:cNvPr>
            <p:cNvPicPr/>
            <p:nvPr/>
          </p:nvPicPr>
          <p:blipFill>
            <a:blip r:embed="rId3" cstate="print"/>
            <a:stretch>
              <a:fillRect/>
            </a:stretch>
          </p:blipFill>
          <p:spPr>
            <a:xfrm>
              <a:off x="2648188" y="47148"/>
              <a:ext cx="5103904" cy="1198311"/>
            </a:xfrm>
            <a:prstGeom prst="rect">
              <a:avLst/>
            </a:prstGeom>
          </p:spPr>
        </p:pic>
        <p:pic>
          <p:nvPicPr>
            <p:cNvPr id="8" name="object 5">
              <a:extLst>
                <a:ext uri="{FF2B5EF4-FFF2-40B4-BE49-F238E27FC236}">
                  <a16:creationId xmlns:a16="http://schemas.microsoft.com/office/drawing/2014/main" id="{5D6A9898-FE3B-2810-F6F3-D398B07C3CB0}"/>
                </a:ext>
              </a:extLst>
            </p:cNvPr>
            <p:cNvPicPr/>
            <p:nvPr/>
          </p:nvPicPr>
          <p:blipFill>
            <a:blip r:embed="rId4" cstate="print"/>
            <a:stretch>
              <a:fillRect/>
            </a:stretch>
          </p:blipFill>
          <p:spPr>
            <a:xfrm>
              <a:off x="2703195" y="86439"/>
              <a:ext cx="4997767" cy="1092279"/>
            </a:xfrm>
            <a:prstGeom prst="rect">
              <a:avLst/>
            </a:prstGeom>
          </p:spPr>
        </p:pic>
        <p:pic>
          <p:nvPicPr>
            <p:cNvPr id="9" name="object 6">
              <a:extLst>
                <a:ext uri="{FF2B5EF4-FFF2-40B4-BE49-F238E27FC236}">
                  <a16:creationId xmlns:a16="http://schemas.microsoft.com/office/drawing/2014/main" id="{AF4EE0DD-C92D-8749-A1A8-AA43F0225A76}"/>
                </a:ext>
              </a:extLst>
            </p:cNvPr>
            <p:cNvPicPr/>
            <p:nvPr/>
          </p:nvPicPr>
          <p:blipFill>
            <a:blip r:embed="rId5" cstate="print"/>
            <a:stretch>
              <a:fillRect/>
            </a:stretch>
          </p:blipFill>
          <p:spPr>
            <a:xfrm>
              <a:off x="2828925" y="243549"/>
              <a:ext cx="4585268" cy="522565"/>
            </a:xfrm>
            <a:prstGeom prst="rect">
              <a:avLst/>
            </a:prstGeom>
          </p:spPr>
        </p:pic>
        <p:sp>
          <p:nvSpPr>
            <p:cNvPr id="10" name="object 7">
              <a:extLst>
                <a:ext uri="{FF2B5EF4-FFF2-40B4-BE49-F238E27FC236}">
                  <a16:creationId xmlns:a16="http://schemas.microsoft.com/office/drawing/2014/main" id="{2548F688-C22C-21A5-D96A-C5F5FB4E8DA0}"/>
                </a:ext>
              </a:extLst>
            </p:cNvPr>
            <p:cNvSpPr/>
            <p:nvPr/>
          </p:nvSpPr>
          <p:spPr>
            <a:xfrm>
              <a:off x="2881913" y="278438"/>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1" name="TextBox 10">
            <a:extLst>
              <a:ext uri="{FF2B5EF4-FFF2-40B4-BE49-F238E27FC236}">
                <a16:creationId xmlns:a16="http://schemas.microsoft.com/office/drawing/2014/main" id="{BF1B4683-E8A0-226B-9C73-CF4658913AAF}"/>
              </a:ext>
            </a:extLst>
          </p:cNvPr>
          <p:cNvSpPr txBox="1"/>
          <p:nvPr/>
        </p:nvSpPr>
        <p:spPr>
          <a:xfrm>
            <a:off x="2706718" y="364569"/>
            <a:ext cx="3076483" cy="646331"/>
          </a:xfrm>
          <a:prstGeom prst="rect">
            <a:avLst/>
          </a:prstGeom>
          <a:noFill/>
        </p:spPr>
        <p:txBody>
          <a:bodyPr wrap="none" rtlCol="0">
            <a:spAutoFit/>
          </a:bodyPr>
          <a:lstStyle/>
          <a:p>
            <a:r>
              <a:rPr lang="en-IN" b="1" dirty="0">
                <a:solidFill>
                  <a:schemeClr val="bg1"/>
                </a:solidFill>
                <a:latin typeface="Times New Roman" panose="02020603050405020304" pitchFamily="18" charset="0"/>
                <a:cs typeface="Times New Roman" panose="02020603050405020304" pitchFamily="18" charset="0"/>
              </a:rPr>
              <a:t>              OUTPUT SCREENS</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DF60AAEB-F02A-D11F-B7F8-EE3A120FE0A0}"/>
              </a:ext>
            </a:extLst>
          </p:cNvPr>
          <p:cNvSpPr txBox="1"/>
          <p:nvPr/>
        </p:nvSpPr>
        <p:spPr>
          <a:xfrm>
            <a:off x="192118" y="5880892"/>
            <a:ext cx="5029200" cy="400110"/>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Login Page</a:t>
            </a:r>
            <a:endParaRPr lang="en-IN" sz="2000"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BF11AA0E-F1B0-15A7-3C74-5E01323A0C56}"/>
              </a:ext>
            </a:extLst>
          </p:cNvPr>
          <p:cNvSpPr txBox="1"/>
          <p:nvPr/>
        </p:nvSpPr>
        <p:spPr>
          <a:xfrm>
            <a:off x="5029200" y="5911669"/>
            <a:ext cx="5260768"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Creation of New Employee to the company</a:t>
            </a:r>
            <a:endParaRPr lang="en-IN" sz="20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63974541-C2DC-9AB6-45C0-4CB324691918}"/>
              </a:ext>
            </a:extLst>
          </p:cNvPr>
          <p:cNvSpPr txBox="1"/>
          <p:nvPr/>
        </p:nvSpPr>
        <p:spPr>
          <a:xfrm>
            <a:off x="609600" y="1091994"/>
            <a:ext cx="5260768" cy="523220"/>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Output Screens</a:t>
            </a:r>
            <a:endParaRPr lang="en-IN" sz="28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BA3F24E3-CE2E-024A-D447-D9335283A60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1466" y="1767972"/>
            <a:ext cx="3745972" cy="4102868"/>
          </a:xfrm>
          <a:prstGeom prst="rect">
            <a:avLst/>
          </a:prstGeom>
        </p:spPr>
      </p:pic>
      <p:pic>
        <p:nvPicPr>
          <p:cNvPr id="17" name="Picture 16">
            <a:extLst>
              <a:ext uri="{FF2B5EF4-FFF2-40B4-BE49-F238E27FC236}">
                <a16:creationId xmlns:a16="http://schemas.microsoft.com/office/drawing/2014/main" id="{3C0ECC68-E9C2-078F-28FF-A41651D3A80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32149" y="1780872"/>
            <a:ext cx="4006280" cy="4102869"/>
          </a:xfrm>
          <a:prstGeom prst="rect">
            <a:avLst/>
          </a:prstGeom>
        </p:spPr>
      </p:pic>
    </p:spTree>
    <p:extLst>
      <p:ext uri="{BB962C8B-B14F-4D97-AF65-F5344CB8AC3E}">
        <p14:creationId xmlns:p14="http://schemas.microsoft.com/office/powerpoint/2010/main" val="3538758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393F05E-6799-CF96-C6FC-7FB432C021F4}"/>
              </a:ext>
            </a:extLst>
          </p:cNvPr>
          <p:cNvSpPr txBox="1"/>
          <p:nvPr/>
        </p:nvSpPr>
        <p:spPr>
          <a:xfrm>
            <a:off x="855670" y="1176089"/>
            <a:ext cx="8347060" cy="806439"/>
          </a:xfrm>
          <a:prstGeom prst="rect">
            <a:avLst/>
          </a:prstGeom>
          <a:noFill/>
        </p:spPr>
        <p:txBody>
          <a:bodyPr wrap="square">
            <a:spAutoFit/>
          </a:bodyPr>
          <a:lstStyle/>
          <a:p>
            <a:pPr lvl="1"/>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467DE386-1594-9B56-6311-AC61F274EFE2}"/>
              </a:ext>
            </a:extLst>
          </p:cNvPr>
          <p:cNvPicPr/>
          <p:nvPr/>
        </p:nvPicPr>
        <p:blipFill>
          <a:blip r:embed="rId3" cstate="print"/>
          <a:stretch>
            <a:fillRect/>
          </a:stretch>
        </p:blipFill>
        <p:spPr>
          <a:xfrm>
            <a:off x="290750" y="204311"/>
            <a:ext cx="1163002" cy="424338"/>
          </a:xfrm>
          <a:prstGeom prst="rect">
            <a:avLst/>
          </a:prstGeom>
        </p:spPr>
      </p:pic>
      <p:grpSp>
        <p:nvGrpSpPr>
          <p:cNvPr id="10" name="object 3">
            <a:extLst>
              <a:ext uri="{FF2B5EF4-FFF2-40B4-BE49-F238E27FC236}">
                <a16:creationId xmlns:a16="http://schemas.microsoft.com/office/drawing/2014/main" id="{4D06C5E6-C298-5CB6-19DE-165CA3F7846C}"/>
              </a:ext>
            </a:extLst>
          </p:cNvPr>
          <p:cNvGrpSpPr/>
          <p:nvPr/>
        </p:nvGrpSpPr>
        <p:grpSpPr>
          <a:xfrm>
            <a:off x="2379670" y="-445"/>
            <a:ext cx="5334000" cy="1490330"/>
            <a:chOff x="2648188" y="47148"/>
            <a:chExt cx="5103904" cy="1198311"/>
          </a:xfrm>
        </p:grpSpPr>
        <p:pic>
          <p:nvPicPr>
            <p:cNvPr id="11" name="object 4">
              <a:extLst>
                <a:ext uri="{FF2B5EF4-FFF2-40B4-BE49-F238E27FC236}">
                  <a16:creationId xmlns:a16="http://schemas.microsoft.com/office/drawing/2014/main" id="{DAF70BB5-13F4-B97C-E181-CFD83677CF84}"/>
                </a:ext>
              </a:extLst>
            </p:cNvPr>
            <p:cNvPicPr/>
            <p:nvPr/>
          </p:nvPicPr>
          <p:blipFill>
            <a:blip r:embed="rId4" cstate="print"/>
            <a:stretch>
              <a:fillRect/>
            </a:stretch>
          </p:blipFill>
          <p:spPr>
            <a:xfrm>
              <a:off x="2648188" y="47148"/>
              <a:ext cx="5103904" cy="1198311"/>
            </a:xfrm>
            <a:prstGeom prst="rect">
              <a:avLst/>
            </a:prstGeom>
          </p:spPr>
        </p:pic>
        <p:pic>
          <p:nvPicPr>
            <p:cNvPr id="13" name="object 6">
              <a:extLst>
                <a:ext uri="{FF2B5EF4-FFF2-40B4-BE49-F238E27FC236}">
                  <a16:creationId xmlns:a16="http://schemas.microsoft.com/office/drawing/2014/main" id="{2F403599-4EBA-4267-88CA-45069DB2B88C}"/>
                </a:ext>
              </a:extLst>
            </p:cNvPr>
            <p:cNvPicPr/>
            <p:nvPr/>
          </p:nvPicPr>
          <p:blipFill>
            <a:blip r:embed="rId5" cstate="print"/>
            <a:stretch>
              <a:fillRect/>
            </a:stretch>
          </p:blipFill>
          <p:spPr>
            <a:xfrm>
              <a:off x="2828925" y="243549"/>
              <a:ext cx="4585268" cy="522565"/>
            </a:xfrm>
            <a:prstGeom prst="rect">
              <a:avLst/>
            </a:prstGeom>
          </p:spPr>
        </p:pic>
        <p:sp>
          <p:nvSpPr>
            <p:cNvPr id="14" name="object 7">
              <a:extLst>
                <a:ext uri="{FF2B5EF4-FFF2-40B4-BE49-F238E27FC236}">
                  <a16:creationId xmlns:a16="http://schemas.microsoft.com/office/drawing/2014/main" id="{C640707A-7C2C-2120-7D7A-1A1E0AEFACD3}"/>
                </a:ext>
              </a:extLst>
            </p:cNvPr>
            <p:cNvSpPr/>
            <p:nvPr/>
          </p:nvSpPr>
          <p:spPr>
            <a:xfrm>
              <a:off x="2881913" y="278438"/>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0D07C561-BD49-8407-B8E0-CB40C6012158}"/>
              </a:ext>
            </a:extLst>
          </p:cNvPr>
          <p:cNvSpPr txBox="1"/>
          <p:nvPr/>
        </p:nvSpPr>
        <p:spPr>
          <a:xfrm>
            <a:off x="3371801" y="347260"/>
            <a:ext cx="2762295" cy="369332"/>
          </a:xfrm>
          <a:prstGeom prst="rect">
            <a:avLst/>
          </a:prstGeom>
          <a:noFill/>
        </p:spPr>
        <p:txBody>
          <a:bodyPr wrap="none" rtlCol="0">
            <a:spAutoFit/>
          </a:bodyPr>
          <a:lstStyle/>
          <a:p>
            <a:r>
              <a:rPr lang="en-US" b="1" dirty="0">
                <a:solidFill>
                  <a:schemeClr val="bg1"/>
                </a:solidFill>
                <a:latin typeface="Times New Roman" panose="02020603050405020304" pitchFamily="18" charset="0"/>
                <a:cs typeface="Times New Roman" panose="02020603050405020304" pitchFamily="18" charset="0"/>
              </a:rPr>
              <a:t>       OUTPUT SCREENS</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A6C26D5-FEAC-5B14-7F76-C47ECD141CCC}"/>
              </a:ext>
            </a:extLst>
          </p:cNvPr>
          <p:cNvSpPr txBox="1"/>
          <p:nvPr/>
        </p:nvSpPr>
        <p:spPr>
          <a:xfrm>
            <a:off x="2331338" y="6569961"/>
            <a:ext cx="5029200" cy="400110"/>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Admin Dashboard</a:t>
            </a:r>
            <a:endParaRPr lang="en-IN" sz="20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C40BEB54-A2F2-069E-716D-784BB50FDD6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5300" y="1096632"/>
            <a:ext cx="9067800" cy="5466530"/>
          </a:xfrm>
          <a:prstGeom prst="rect">
            <a:avLst/>
          </a:prstGeom>
        </p:spPr>
      </p:pic>
    </p:spTree>
    <p:extLst>
      <p:ext uri="{BB962C8B-B14F-4D97-AF65-F5344CB8AC3E}">
        <p14:creationId xmlns:p14="http://schemas.microsoft.com/office/powerpoint/2010/main" val="3454860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80E80D0-6F89-D49C-8F71-3B704975761E}"/>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Palatino Linotype" panose="02040502050505030304" pitchFamily="18" charset="0"/>
              </a:rPr>
              <a:t>ANALYSIS</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2" cstate="print"/>
          <a:stretch>
            <a:fillRect/>
          </a:stretch>
        </p:blipFill>
        <p:spPr>
          <a:xfrm>
            <a:off x="290750" y="204311"/>
            <a:ext cx="1163002" cy="424338"/>
          </a:xfrm>
          <a:prstGeom prst="rect">
            <a:avLst/>
          </a:prstGeom>
        </p:spPr>
      </p:pic>
      <p:sp>
        <p:nvSpPr>
          <p:cNvPr id="8" name="TextBox 7">
            <a:extLst>
              <a:ext uri="{FF2B5EF4-FFF2-40B4-BE49-F238E27FC236}">
                <a16:creationId xmlns:a16="http://schemas.microsoft.com/office/drawing/2014/main" id="{CE0F9FB2-7F79-4EC9-E0B8-E22A53120E53}"/>
              </a:ext>
            </a:extLst>
          </p:cNvPr>
          <p:cNvSpPr txBox="1"/>
          <p:nvPr/>
        </p:nvSpPr>
        <p:spPr>
          <a:xfrm>
            <a:off x="685800" y="1202796"/>
            <a:ext cx="9220200" cy="5139869"/>
          </a:xfrm>
          <a:prstGeom prst="rect">
            <a:avLst/>
          </a:prstGeom>
          <a:noFill/>
        </p:spPr>
        <p:txBody>
          <a:bodyPr wrap="square">
            <a:spAutoFit/>
          </a:bodyPr>
          <a:lstStyle/>
          <a:p>
            <a:pPr marL="514350" indent="-5143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Employee Record Management System successfully provides a centralized platform for managing employee details, salary information, and department records.</a:t>
            </a:r>
          </a:p>
          <a:p>
            <a:pPr marL="457200" indent="-4572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implements complete CRUD functionality along with search and filtering features using the MERN stack.</a:t>
            </a:r>
          </a:p>
          <a:p>
            <a:pPr marL="457200" indent="-4572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Through this project, we demonstrated full-stack development by integrating frontend, backend, and database technologies to build a functional and scalable web application.</a:t>
            </a:r>
          </a:p>
          <a:p>
            <a:endParaRPr lang="en-IN" sz="2000" dirty="0"/>
          </a:p>
          <a:p>
            <a:endParaRPr lang="en-US" sz="2000" dirty="0">
              <a:latin typeface="Times New Roman" panose="02020603050405020304" pitchFamily="18" charset="0"/>
              <a:cs typeface="Times New Roman" panose="02020603050405020304" pitchFamily="18" charset="0"/>
            </a:endParaRPr>
          </a:p>
        </p:txBody>
      </p:sp>
      <p:grpSp>
        <p:nvGrpSpPr>
          <p:cNvPr id="5" name="object 3">
            <a:extLst>
              <a:ext uri="{FF2B5EF4-FFF2-40B4-BE49-F238E27FC236}">
                <a16:creationId xmlns:a16="http://schemas.microsoft.com/office/drawing/2014/main" id="{716E552F-B5C6-7AF6-82FA-4FC538318837}"/>
              </a:ext>
            </a:extLst>
          </p:cNvPr>
          <p:cNvGrpSpPr/>
          <p:nvPr/>
        </p:nvGrpSpPr>
        <p:grpSpPr>
          <a:xfrm>
            <a:off x="2362200" y="0"/>
            <a:ext cx="5334000" cy="1490330"/>
            <a:chOff x="2648188" y="47148"/>
            <a:chExt cx="5103904" cy="1198311"/>
          </a:xfrm>
        </p:grpSpPr>
        <p:pic>
          <p:nvPicPr>
            <p:cNvPr id="6" name="object 4">
              <a:extLst>
                <a:ext uri="{FF2B5EF4-FFF2-40B4-BE49-F238E27FC236}">
                  <a16:creationId xmlns:a16="http://schemas.microsoft.com/office/drawing/2014/main" id="{F2E05D2E-2253-D47B-4DEF-F0D7234DFC70}"/>
                </a:ext>
              </a:extLst>
            </p:cNvPr>
            <p:cNvPicPr/>
            <p:nvPr/>
          </p:nvPicPr>
          <p:blipFill>
            <a:blip r:embed="rId3" cstate="print"/>
            <a:stretch>
              <a:fillRect/>
            </a:stretch>
          </p:blipFill>
          <p:spPr>
            <a:xfrm>
              <a:off x="2648188" y="47148"/>
              <a:ext cx="5103904" cy="1198311"/>
            </a:xfrm>
            <a:prstGeom prst="rect">
              <a:avLst/>
            </a:prstGeom>
          </p:spPr>
        </p:pic>
        <p:pic>
          <p:nvPicPr>
            <p:cNvPr id="7" name="object 6">
              <a:extLst>
                <a:ext uri="{FF2B5EF4-FFF2-40B4-BE49-F238E27FC236}">
                  <a16:creationId xmlns:a16="http://schemas.microsoft.com/office/drawing/2014/main" id="{90AFE534-77C2-EDDB-47DC-585BFDE67631}"/>
                </a:ext>
              </a:extLst>
            </p:cNvPr>
            <p:cNvPicPr/>
            <p:nvPr/>
          </p:nvPicPr>
          <p:blipFill>
            <a:blip r:embed="rId4"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FB04A512-99F4-654B-B36A-8E31DA4B3BB1}"/>
                </a:ext>
              </a:extLst>
            </p:cNvPr>
            <p:cNvSpPr/>
            <p:nvPr/>
          </p:nvSpPr>
          <p:spPr>
            <a:xfrm>
              <a:off x="2881913" y="278438"/>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0" name="TextBox 9">
            <a:extLst>
              <a:ext uri="{FF2B5EF4-FFF2-40B4-BE49-F238E27FC236}">
                <a16:creationId xmlns:a16="http://schemas.microsoft.com/office/drawing/2014/main" id="{6143EF4B-A0C0-14FF-29C8-C630F7EE6B34}"/>
              </a:ext>
            </a:extLst>
          </p:cNvPr>
          <p:cNvSpPr txBox="1"/>
          <p:nvPr/>
        </p:nvSpPr>
        <p:spPr>
          <a:xfrm>
            <a:off x="4078888" y="336272"/>
            <a:ext cx="1736373" cy="369332"/>
          </a:xfrm>
          <a:prstGeom prst="rect">
            <a:avLst/>
          </a:prstGeom>
          <a:noFill/>
        </p:spPr>
        <p:txBody>
          <a:bodyPr wrap="none" rtlCol="0">
            <a:spAutoFit/>
          </a:bodyPr>
          <a:lstStyle/>
          <a:p>
            <a:r>
              <a:rPr lang="en-US" b="1" dirty="0">
                <a:solidFill>
                  <a:schemeClr val="bg1"/>
                </a:solidFill>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92566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latin typeface="Times New Roman" panose="02020603050405020304" pitchFamily="18" charset="0"/>
                <a:cs typeface="Times New Roman" panose="02020603050405020304" pitchFamily="18" charset="0"/>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3201</TotalTime>
  <Words>743</Words>
  <Application>Microsoft Office PowerPoint</Application>
  <PresentationFormat>Custom</PresentationFormat>
  <Paragraphs>108</Paragraphs>
  <Slides>12</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Cambria</vt:lpstr>
      <vt:lpstr>Palatino Linotype</vt:lpstr>
      <vt:lpstr>Times New Roman</vt:lpstr>
      <vt:lpstr>Office Theme</vt:lpstr>
      <vt:lpstr>Department of Artificial Intelligence And Machine Learning Web Application Development Using Mernstack   Cornerstone Project Final Review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TEJA ARIGELA</cp:lastModifiedBy>
  <cp:revision>66</cp:revision>
  <cp:lastPrinted>2026-04-04T13:45:43Z</cp:lastPrinted>
  <dcterms:created xsi:type="dcterms:W3CDTF">2025-10-10T08:28:06Z</dcterms:created>
  <dcterms:modified xsi:type="dcterms:W3CDTF">2026-04-04T13:46:39Z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